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12192000"/>
  <p:embeddedFontLst>
    <p:embeddedFont>
      <p:font typeface="Noto Sans KR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font" Target="fonts/NotoSansKR-regular.fntdata"/><Relationship Id="rId24" Type="http://schemas.openxmlformats.org/officeDocument/2006/relationships/font" Target="fonts/NotoSansKR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" name="Google Shape;17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6" name="Google Shape;21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7" name="Google Shape;29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4" name="Google Shape;33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2.png"/><Relationship Id="rId6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10.png"/><Relationship Id="rId8" Type="http://schemas.openxmlformats.org/officeDocument/2006/relationships/image" Target="../media/image7.png"/><Relationship Id="rId9" Type="http://schemas.openxmlformats.org/officeDocument/2006/relationships/image" Target="../media/image14.png"/><Relationship Id="rId10" Type="http://schemas.openxmlformats.org/officeDocument/2006/relationships/image" Target="../media/image4.png"/><Relationship Id="rId11" Type="http://schemas.openxmlformats.org/officeDocument/2006/relationships/image" Target="../media/image11.png"/><Relationship Id="rId12" Type="http://schemas.openxmlformats.org/officeDocument/2006/relationships/image" Target="../media/image17.png"/><Relationship Id="rId1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20.png"/><Relationship Id="rId8" Type="http://schemas.openxmlformats.org/officeDocument/2006/relationships/image" Target="../media/image19.png"/><Relationship Id="rId9" Type="http://schemas.openxmlformats.org/officeDocument/2006/relationships/image" Target="../media/image23.png"/><Relationship Id="rId10" Type="http://schemas.openxmlformats.org/officeDocument/2006/relationships/image" Target="../media/image30.png"/><Relationship Id="rId11" Type="http://schemas.openxmlformats.org/officeDocument/2006/relationships/image" Target="../media/image1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Relationship Id="rId8" Type="http://schemas.openxmlformats.org/officeDocument/2006/relationships/image" Target="../media/image26.png"/><Relationship Id="rId9" Type="http://schemas.openxmlformats.org/officeDocument/2006/relationships/image" Target="../media/image28.png"/><Relationship Id="rId10" Type="http://schemas.openxmlformats.org/officeDocument/2006/relationships/image" Target="../media/image27.png"/><Relationship Id="rId11" Type="http://schemas.openxmlformats.org/officeDocument/2006/relationships/image" Target="../media/image36.png"/><Relationship Id="rId12" Type="http://schemas.openxmlformats.org/officeDocument/2006/relationships/image" Target="../media/image29.png"/><Relationship Id="rId13" Type="http://schemas.openxmlformats.org/officeDocument/2006/relationships/image" Target="../media/image4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7.png"/><Relationship Id="rId8" Type="http://schemas.openxmlformats.org/officeDocument/2006/relationships/image" Target="../media/image35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38.png"/><Relationship Id="rId12" Type="http://schemas.openxmlformats.org/officeDocument/2006/relationships/image" Target="../media/image41.png"/><Relationship Id="rId13" Type="http://schemas.openxmlformats.org/officeDocument/2006/relationships/image" Target="../media/image32.png"/><Relationship Id="rId14" Type="http://schemas.openxmlformats.org/officeDocument/2006/relationships/image" Target="../media/image49.png"/><Relationship Id="rId15" Type="http://schemas.openxmlformats.org/officeDocument/2006/relationships/image" Target="../media/image45.png"/><Relationship Id="rId16" Type="http://schemas.openxmlformats.org/officeDocument/2006/relationships/image" Target="../media/image4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8.png"/><Relationship Id="rId6" Type="http://schemas.openxmlformats.org/officeDocument/2006/relationships/image" Target="../media/image12.png"/><Relationship Id="rId7" Type="http://schemas.openxmlformats.org/officeDocument/2006/relationships/image" Target="../media/image61.png"/><Relationship Id="rId8" Type="http://schemas.openxmlformats.org/officeDocument/2006/relationships/image" Target="../media/image55.png"/><Relationship Id="rId9" Type="http://schemas.openxmlformats.org/officeDocument/2006/relationships/image" Target="../media/image51.png"/><Relationship Id="rId10" Type="http://schemas.openxmlformats.org/officeDocument/2006/relationships/image" Target="../media/image46.png"/><Relationship Id="rId11" Type="http://schemas.openxmlformats.org/officeDocument/2006/relationships/image" Target="../media/image60.png"/><Relationship Id="rId12" Type="http://schemas.openxmlformats.org/officeDocument/2006/relationships/image" Target="../media/image53.png"/><Relationship Id="rId13" Type="http://schemas.openxmlformats.org/officeDocument/2006/relationships/image" Target="../media/image52.png"/><Relationship Id="rId14" Type="http://schemas.openxmlformats.org/officeDocument/2006/relationships/image" Target="../media/image62.png"/><Relationship Id="rId15" Type="http://schemas.openxmlformats.org/officeDocument/2006/relationships/image" Target="../media/image58.png"/><Relationship Id="rId16" Type="http://schemas.openxmlformats.org/officeDocument/2006/relationships/image" Target="../media/image6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47.png"/><Relationship Id="rId7" Type="http://schemas.openxmlformats.org/officeDocument/2006/relationships/image" Target="../media/image57.png"/><Relationship Id="rId8" Type="http://schemas.openxmlformats.org/officeDocument/2006/relationships/image" Target="../media/image42.png"/><Relationship Id="rId9" Type="http://schemas.openxmlformats.org/officeDocument/2006/relationships/image" Target="../media/image50.png"/><Relationship Id="rId10" Type="http://schemas.openxmlformats.org/officeDocument/2006/relationships/image" Target="../media/image54.png"/><Relationship Id="rId11" Type="http://schemas.openxmlformats.org/officeDocument/2006/relationships/image" Target="../media/image56.png"/><Relationship Id="rId12" Type="http://schemas.openxmlformats.org/officeDocument/2006/relationships/image" Target="../media/image69.png"/><Relationship Id="rId13" Type="http://schemas.openxmlformats.org/officeDocument/2006/relationships/image" Target="../media/image65.png"/><Relationship Id="rId14" Type="http://schemas.openxmlformats.org/officeDocument/2006/relationships/image" Target="../media/image6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7.png"/><Relationship Id="rId6" Type="http://schemas.openxmlformats.org/officeDocument/2006/relationships/image" Target="../media/image72.png"/><Relationship Id="rId7" Type="http://schemas.openxmlformats.org/officeDocument/2006/relationships/image" Target="../media/image50.png"/><Relationship Id="rId8" Type="http://schemas.openxmlformats.org/officeDocument/2006/relationships/image" Target="../media/image54.png"/><Relationship Id="rId9" Type="http://schemas.openxmlformats.org/officeDocument/2006/relationships/image" Target="../media/image56.png"/><Relationship Id="rId10" Type="http://schemas.openxmlformats.org/officeDocument/2006/relationships/image" Target="../media/image69.png"/><Relationship Id="rId11" Type="http://schemas.openxmlformats.org/officeDocument/2006/relationships/image" Target="../media/image64.png"/><Relationship Id="rId12" Type="http://schemas.openxmlformats.org/officeDocument/2006/relationships/image" Target="../media/image63.png"/><Relationship Id="rId13" Type="http://schemas.openxmlformats.org/officeDocument/2006/relationships/image" Target="../media/image7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7.png"/><Relationship Id="rId6" Type="http://schemas.openxmlformats.org/officeDocument/2006/relationships/image" Target="../media/image72.png"/><Relationship Id="rId7" Type="http://schemas.openxmlformats.org/officeDocument/2006/relationships/image" Target="../media/image64.png"/><Relationship Id="rId8" Type="http://schemas.openxmlformats.org/officeDocument/2006/relationships/image" Target="../media/image50.png"/><Relationship Id="rId9" Type="http://schemas.openxmlformats.org/officeDocument/2006/relationships/image" Target="../media/image54.png"/><Relationship Id="rId10" Type="http://schemas.openxmlformats.org/officeDocument/2006/relationships/image" Target="../media/image56.png"/><Relationship Id="rId11" Type="http://schemas.openxmlformats.org/officeDocument/2006/relationships/image" Target="../media/image69.png"/><Relationship Id="rId12" Type="http://schemas.openxmlformats.org/officeDocument/2006/relationships/image" Target="../media/image68.png"/><Relationship Id="rId13" Type="http://schemas.openxmlformats.org/officeDocument/2006/relationships/image" Target="../media/image5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8.png"/><Relationship Id="rId6" Type="http://schemas.openxmlformats.org/officeDocument/2006/relationships/image" Target="../media/image12.png"/><Relationship Id="rId7" Type="http://schemas.openxmlformats.org/officeDocument/2006/relationships/image" Target="../media/image61.png"/><Relationship Id="rId8" Type="http://schemas.openxmlformats.org/officeDocument/2006/relationships/image" Target="../media/image55.png"/><Relationship Id="rId9" Type="http://schemas.openxmlformats.org/officeDocument/2006/relationships/image" Target="../media/image51.png"/><Relationship Id="rId10" Type="http://schemas.openxmlformats.org/officeDocument/2006/relationships/image" Target="../media/image71.png"/><Relationship Id="rId11" Type="http://schemas.openxmlformats.org/officeDocument/2006/relationships/image" Target="../media/image60.png"/><Relationship Id="rId12" Type="http://schemas.openxmlformats.org/officeDocument/2006/relationships/image" Target="../media/image7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7.png"/><Relationship Id="rId6" Type="http://schemas.openxmlformats.org/officeDocument/2006/relationships/image" Target="../media/image72.png"/><Relationship Id="rId7" Type="http://schemas.openxmlformats.org/officeDocument/2006/relationships/image" Target="../media/image54.png"/><Relationship Id="rId8" Type="http://schemas.openxmlformats.org/officeDocument/2006/relationships/image" Target="../media/image69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7.png"/><Relationship Id="rId6" Type="http://schemas.openxmlformats.org/officeDocument/2006/relationships/image" Target="../media/image72.png"/><Relationship Id="rId7" Type="http://schemas.openxmlformats.org/officeDocument/2006/relationships/image" Target="../media/image54.png"/><Relationship Id="rId8" Type="http://schemas.openxmlformats.org/officeDocument/2006/relationships/image" Target="../media/image69.png"/><Relationship Id="rId9" Type="http://schemas.openxmlformats.org/officeDocument/2006/relationships/image" Target="../media/image77.png"/><Relationship Id="rId10" Type="http://schemas.openxmlformats.org/officeDocument/2006/relationships/image" Target="../media/image7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7.png"/><Relationship Id="rId6" Type="http://schemas.openxmlformats.org/officeDocument/2006/relationships/image" Target="../media/image72.png"/><Relationship Id="rId7" Type="http://schemas.openxmlformats.org/officeDocument/2006/relationships/image" Target="../media/image54.png"/><Relationship Id="rId8" Type="http://schemas.openxmlformats.org/officeDocument/2006/relationships/image" Target="../media/image69.png"/><Relationship Id="rId9" Type="http://schemas.openxmlformats.org/officeDocument/2006/relationships/image" Target="../media/image84.png"/><Relationship Id="rId10" Type="http://schemas.openxmlformats.org/officeDocument/2006/relationships/image" Target="../media/image78.png"/><Relationship Id="rId11" Type="http://schemas.openxmlformats.org/officeDocument/2006/relationships/image" Target="../media/image8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7.png"/><Relationship Id="rId6" Type="http://schemas.openxmlformats.org/officeDocument/2006/relationships/image" Target="../media/image72.png"/><Relationship Id="rId7" Type="http://schemas.openxmlformats.org/officeDocument/2006/relationships/image" Target="../media/image54.png"/><Relationship Id="rId8" Type="http://schemas.openxmlformats.org/officeDocument/2006/relationships/image" Target="../media/image69.png"/><Relationship Id="rId9" Type="http://schemas.openxmlformats.org/officeDocument/2006/relationships/image" Target="../media/image83.png"/><Relationship Id="rId10" Type="http://schemas.openxmlformats.org/officeDocument/2006/relationships/image" Target="../media/image8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7.png"/><Relationship Id="rId6" Type="http://schemas.openxmlformats.org/officeDocument/2006/relationships/image" Target="../media/image72.png"/><Relationship Id="rId7" Type="http://schemas.openxmlformats.org/officeDocument/2006/relationships/image" Target="../media/image54.png"/><Relationship Id="rId8" Type="http://schemas.openxmlformats.org/officeDocument/2006/relationships/image" Target="../media/image69.png"/><Relationship Id="rId9" Type="http://schemas.openxmlformats.org/officeDocument/2006/relationships/image" Target="../media/image79.png"/><Relationship Id="rId10" Type="http://schemas.openxmlformats.org/officeDocument/2006/relationships/image" Target="../media/image8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7.png"/><Relationship Id="rId6" Type="http://schemas.openxmlformats.org/officeDocument/2006/relationships/image" Target="../media/image72.png"/><Relationship Id="rId7" Type="http://schemas.openxmlformats.org/officeDocument/2006/relationships/image" Target="../media/image54.png"/><Relationship Id="rId8" Type="http://schemas.openxmlformats.org/officeDocument/2006/relationships/image" Target="../media/image69.png"/><Relationship Id="rId9" Type="http://schemas.openxmlformats.org/officeDocument/2006/relationships/image" Target="../media/image86.png"/><Relationship Id="rId10" Type="http://schemas.openxmlformats.org/officeDocument/2006/relationships/image" Target="../media/image9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7.png"/><Relationship Id="rId6" Type="http://schemas.openxmlformats.org/officeDocument/2006/relationships/image" Target="../media/image72.png"/><Relationship Id="rId7" Type="http://schemas.openxmlformats.org/officeDocument/2006/relationships/image" Target="../media/image54.png"/><Relationship Id="rId8" Type="http://schemas.openxmlformats.org/officeDocument/2006/relationships/image" Target="../media/image69.png"/><Relationship Id="rId9" Type="http://schemas.openxmlformats.org/officeDocument/2006/relationships/image" Target="../media/image81.png"/><Relationship Id="rId10" Type="http://schemas.openxmlformats.org/officeDocument/2006/relationships/image" Target="../media/image8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7.png"/><Relationship Id="rId6" Type="http://schemas.openxmlformats.org/officeDocument/2006/relationships/image" Target="../media/image72.png"/><Relationship Id="rId7" Type="http://schemas.openxmlformats.org/officeDocument/2006/relationships/image" Target="../media/image54.png"/><Relationship Id="rId8" Type="http://schemas.openxmlformats.org/officeDocument/2006/relationships/image" Target="../media/image89.png"/><Relationship Id="rId9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" name="Google Shape;1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" name="Google Shape;1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599" y="4514850"/>
            <a:ext cx="4613909" cy="962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" name="Google Shape;1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66850" y="4930080"/>
            <a:ext cx="95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" name="Google Shape;1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71775" y="4930080"/>
            <a:ext cx="95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609600" y="826889"/>
            <a:ext cx="638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RESUME PORTFOLIO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09600" y="1436489"/>
            <a:ext cx="6309271" cy="2849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100"/>
              <a:buFont typeface="Calibri"/>
              <a:buNone/>
            </a:pPr>
            <a:r>
              <a:rPr b="1" i="0" lang="en-US" sz="5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필요에 맞게 변화할 수 있는 개발자 입니다.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09600" y="4857750"/>
            <a:ext cx="1413510" cy="373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100"/>
              <a:buFont typeface="Noto Sans KR"/>
              <a:buNone/>
            </a:pPr>
            <a:r>
              <a:rPr b="0" i="0" lang="en-US" sz="21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문강산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666875" y="4857750"/>
            <a:ext cx="1733550" cy="373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100"/>
              <a:buFont typeface="Noto Sans KR"/>
              <a:buNone/>
            </a:pPr>
            <a:r>
              <a:rPr b="0" i="0" lang="en-US" sz="21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백엔드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971800" y="4857750"/>
            <a:ext cx="4613910" cy="373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100"/>
              <a:buFont typeface="Noto Sans KR"/>
              <a:buNone/>
            </a:pPr>
            <a:r>
              <a:rPr b="0" i="0" lang="en-US" sz="2100" u="none" cap="none" strike="noStrike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총 경력 3년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12192" y="-22861"/>
            <a:ext cx="12192000" cy="6858000"/>
          </a:xfrm>
          <a:prstGeom prst="rect">
            <a:avLst/>
          </a:prstGeom>
          <a:solidFill>
            <a:srgbClr val="FDFC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02920" y="384048"/>
            <a:ext cx="4572000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PERSONAL PROFILE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02920" y="640080"/>
            <a:ext cx="54864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CAREER</a:t>
            </a:r>
            <a:endParaRPr/>
          </a:p>
        </p:txBody>
      </p:sp>
      <p:sp>
        <p:nvSpPr>
          <p:cNvPr id="29" name="Google Shape;29;p4"/>
          <p:cNvSpPr txBox="1"/>
          <p:nvPr/>
        </p:nvSpPr>
        <p:spPr>
          <a:xfrm>
            <a:off x="502920" y="1225296"/>
            <a:ext cx="96012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강산 개발자의 학력 · 경력 · 활동 · 프로젝트를 한 장으로 정리한 프로필입니다</a:t>
            </a:r>
            <a:endParaRPr b="0" i="0" sz="12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0" name="Google Shape;30;p4"/>
          <p:cNvCxnSpPr/>
          <p:nvPr/>
        </p:nvCxnSpPr>
        <p:spPr>
          <a:xfrm>
            <a:off x="502920" y="3758184"/>
            <a:ext cx="3474719" cy="0"/>
          </a:xfrm>
          <a:prstGeom prst="straightConnector1">
            <a:avLst/>
          </a:prstGeom>
          <a:noFill/>
          <a:ln cap="flat" cmpd="sng" w="12700">
            <a:solidFill>
              <a:srgbClr val="E4E0DA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1" name="Google Shape;31;p4"/>
          <p:cNvSpPr txBox="1"/>
          <p:nvPr/>
        </p:nvSpPr>
        <p:spPr>
          <a:xfrm>
            <a:off x="502920" y="3904488"/>
            <a:ext cx="3474720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개인 정보</a:t>
            </a:r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502920" y="4288536"/>
            <a:ext cx="3474720" cy="146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이름</a:t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502920" y="4507992"/>
            <a:ext cx="347472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문강산</a:t>
            </a:r>
            <a:endParaRPr b="0" i="0" sz="12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502920" y="4873752"/>
            <a:ext cx="3474720" cy="146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이메일</a:t>
            </a: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502920" y="5093208"/>
            <a:ext cx="347472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mungangsan2@gmail.com</a:t>
            </a:r>
            <a:endParaRPr b="0" i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502920" y="5458968"/>
            <a:ext cx="3474720" cy="146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번호</a:t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502920" y="5678424"/>
            <a:ext cx="347472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010-2561-4283</a:t>
            </a:r>
            <a:endParaRPr b="0" i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502920" y="6044184"/>
            <a:ext cx="3474720" cy="146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주소</a:t>
            </a:r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502920" y="6263640"/>
            <a:ext cx="347472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부산시 수영구 광안동 90-54 </a:t>
            </a:r>
            <a:endParaRPr b="0" i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4358944" y="1700784"/>
            <a:ext cx="3474720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학력과 교육이력</a:t>
            </a:r>
            <a:endParaRPr/>
          </a:p>
        </p:txBody>
      </p:sp>
      <p:cxnSp>
        <p:nvCxnSpPr>
          <p:cNvPr id="41" name="Google Shape;41;p4"/>
          <p:cNvCxnSpPr/>
          <p:nvPr/>
        </p:nvCxnSpPr>
        <p:spPr>
          <a:xfrm>
            <a:off x="4358944" y="1993392"/>
            <a:ext cx="3474720" cy="0"/>
          </a:xfrm>
          <a:prstGeom prst="straightConnector1">
            <a:avLst/>
          </a:prstGeom>
          <a:noFill/>
          <a:ln cap="flat" cmpd="sng" w="12700">
            <a:solidFill>
              <a:srgbClr val="E4E0DA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2" name="Google Shape;42;p4"/>
          <p:cNvSpPr txBox="1"/>
          <p:nvPr/>
        </p:nvSpPr>
        <p:spPr>
          <a:xfrm>
            <a:off x="4358944" y="2139696"/>
            <a:ext cx="3474720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2017.02 ~ 2019.02</a:t>
            </a:r>
            <a:endParaRPr b="1" i="0" sz="1050">
              <a:solidFill>
                <a:srgbClr val="C85A3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4358944" y="2377440"/>
            <a:ext cx="3474720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동의과학대 산업경영</a:t>
            </a:r>
            <a:endParaRPr b="0" i="1" sz="1100">
              <a:solidFill>
                <a:srgbClr val="8C8C8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4358944" y="2743200"/>
            <a:ext cx="3474720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2026.02 ~ </a:t>
            </a:r>
            <a:r>
              <a:rPr b="1" lang="en-US" sz="1050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재학중</a:t>
            </a:r>
            <a:endParaRPr b="1" i="0" sz="1050">
              <a:solidFill>
                <a:srgbClr val="C85A3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4358944" y="2980944"/>
            <a:ext cx="3474720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방송통신대학교 컴퓨터과학과</a:t>
            </a:r>
            <a:endParaRPr b="0" i="1" sz="1100">
              <a:solidFill>
                <a:srgbClr val="8C8C8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4358944" y="3560516"/>
            <a:ext cx="3474720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경력</a:t>
            </a:r>
            <a:endParaRPr/>
          </a:p>
        </p:txBody>
      </p:sp>
      <p:cxnSp>
        <p:nvCxnSpPr>
          <p:cNvPr id="47" name="Google Shape;47;p4"/>
          <p:cNvCxnSpPr/>
          <p:nvPr/>
        </p:nvCxnSpPr>
        <p:spPr>
          <a:xfrm>
            <a:off x="4358944" y="3853124"/>
            <a:ext cx="3474720" cy="0"/>
          </a:xfrm>
          <a:prstGeom prst="straightConnector1">
            <a:avLst/>
          </a:prstGeom>
          <a:noFill/>
          <a:ln cap="flat" cmpd="sng" w="12700">
            <a:solidFill>
              <a:srgbClr val="E4E0DA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8" name="Google Shape;48;p4"/>
          <p:cNvSpPr txBox="1"/>
          <p:nvPr/>
        </p:nvSpPr>
        <p:spPr>
          <a:xfrm>
            <a:off x="4358944" y="3999428"/>
            <a:ext cx="3474720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2023.02 ~ 2026.01</a:t>
            </a:r>
            <a:endParaRPr b="1" i="0" sz="1050">
              <a:solidFill>
                <a:srgbClr val="C85A3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4358944" y="4237172"/>
            <a:ext cx="3474720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㈜비즈폼 근무</a:t>
            </a:r>
            <a:endParaRPr b="0" i="1" sz="1100">
              <a:solidFill>
                <a:srgbClr val="8C8C8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8214969" y="1700784"/>
            <a:ext cx="3474720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</a:t>
            </a:r>
            <a:endParaRPr/>
          </a:p>
        </p:txBody>
      </p:sp>
      <p:cxnSp>
        <p:nvCxnSpPr>
          <p:cNvPr id="51" name="Google Shape;51;p4"/>
          <p:cNvCxnSpPr/>
          <p:nvPr/>
        </p:nvCxnSpPr>
        <p:spPr>
          <a:xfrm>
            <a:off x="8214969" y="1993392"/>
            <a:ext cx="3474720" cy="0"/>
          </a:xfrm>
          <a:prstGeom prst="straightConnector1">
            <a:avLst/>
          </a:prstGeom>
          <a:noFill/>
          <a:ln cap="flat" cmpd="sng" w="12700">
            <a:solidFill>
              <a:srgbClr val="E4E0DA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8214969" y="2139696"/>
            <a:ext cx="292608" cy="292608"/>
          </a:xfrm>
          <a:prstGeom prst="ellipse">
            <a:avLst/>
          </a:prstGeom>
          <a:solidFill>
            <a:srgbClr val="F4F2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8214969" y="2212903"/>
            <a:ext cx="292608" cy="1461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54" name="Google Shape;54;p4"/>
          <p:cNvSpPr txBox="1"/>
          <p:nvPr/>
        </p:nvSpPr>
        <p:spPr>
          <a:xfrm>
            <a:off x="8635593" y="2112264"/>
            <a:ext cx="3054096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2023.11 ~ 2024.05</a:t>
            </a:r>
            <a:endParaRPr b="0" i="0" sz="900">
              <a:solidFill>
                <a:srgbClr val="8C8C8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8635593" y="2286000"/>
            <a:ext cx="3054096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리워디 프로젝트</a:t>
            </a:r>
            <a:endParaRPr b="1" i="0" sz="11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635593" y="2505456"/>
            <a:ext cx="819302" cy="237744"/>
          </a:xfrm>
          <a:prstGeom prst="roundRect">
            <a:avLst>
              <a:gd fmla="val 18000" name="adj"/>
            </a:avLst>
          </a:prstGeom>
          <a:solidFill>
            <a:srgbClr val="F4F2EE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팀 프로젝트</a:t>
            </a:r>
            <a:endParaRPr b="1"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214969" y="2865126"/>
            <a:ext cx="292608" cy="292608"/>
          </a:xfrm>
          <a:prstGeom prst="ellipse">
            <a:avLst/>
          </a:prstGeom>
          <a:solidFill>
            <a:srgbClr val="F4F2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8214969" y="2938333"/>
            <a:ext cx="292608" cy="1461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59" name="Google Shape;59;p4"/>
          <p:cNvSpPr txBox="1"/>
          <p:nvPr/>
        </p:nvSpPr>
        <p:spPr>
          <a:xfrm>
            <a:off x="8635593" y="2837694"/>
            <a:ext cx="3054096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2026.07 ~ </a:t>
            </a:r>
            <a:endParaRPr/>
          </a:p>
        </p:txBody>
      </p:sp>
      <p:sp>
        <p:nvSpPr>
          <p:cNvPr id="60" name="Google Shape;60;p4"/>
          <p:cNvSpPr txBox="1"/>
          <p:nvPr/>
        </p:nvSpPr>
        <p:spPr>
          <a:xfrm>
            <a:off x="8635593" y="3011430"/>
            <a:ext cx="3054096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부산 온나</a:t>
            </a:r>
            <a:endParaRPr b="1" i="0" sz="11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8214969" y="3567957"/>
            <a:ext cx="3474720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깃허브와 블로그</a:t>
            </a:r>
            <a:endParaRPr/>
          </a:p>
        </p:txBody>
      </p:sp>
      <p:cxnSp>
        <p:nvCxnSpPr>
          <p:cNvPr id="62" name="Google Shape;62;p4"/>
          <p:cNvCxnSpPr/>
          <p:nvPr/>
        </p:nvCxnSpPr>
        <p:spPr>
          <a:xfrm>
            <a:off x="8214969" y="3860565"/>
            <a:ext cx="3474720" cy="0"/>
          </a:xfrm>
          <a:prstGeom prst="straightConnector1">
            <a:avLst/>
          </a:prstGeom>
          <a:noFill/>
          <a:ln cap="flat" cmpd="sng" w="12700">
            <a:solidFill>
              <a:srgbClr val="E4E0DA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3" name="Google Shape;63;p4"/>
          <p:cNvSpPr txBox="1"/>
          <p:nvPr/>
        </p:nvSpPr>
        <p:spPr>
          <a:xfrm>
            <a:off x="8214969" y="4006869"/>
            <a:ext cx="960120" cy="146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깃허브</a:t>
            </a:r>
            <a:endParaRPr/>
          </a:p>
        </p:txBody>
      </p:sp>
      <p:sp>
        <p:nvSpPr>
          <p:cNvPr id="64" name="Google Shape;64;p4"/>
          <p:cNvSpPr txBox="1"/>
          <p:nvPr/>
        </p:nvSpPr>
        <p:spPr>
          <a:xfrm>
            <a:off x="9175089" y="4006869"/>
            <a:ext cx="2514600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github.com/MOONKANGSAN</a:t>
            </a:r>
            <a:endParaRPr b="0" i="1" sz="1050">
              <a:solidFill>
                <a:srgbClr val="8C8C8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214969" y="4299477"/>
            <a:ext cx="960120" cy="146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노션</a:t>
            </a:r>
            <a:endParaRPr b="0" i="0" sz="950">
              <a:solidFill>
                <a:srgbClr val="8C8C8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9175089" y="4299477"/>
            <a:ext cx="2514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https://app.notion.com/p/37da893f12c880edabd6dc6e54de95aa?source=copy_link</a:t>
            </a:r>
            <a:endParaRPr/>
          </a:p>
        </p:txBody>
      </p:sp>
      <p:sp>
        <p:nvSpPr>
          <p:cNvPr id="67" name="Google Shape;67;p4"/>
          <p:cNvSpPr txBox="1"/>
          <p:nvPr/>
        </p:nvSpPr>
        <p:spPr>
          <a:xfrm>
            <a:off x="8214969" y="4865721"/>
            <a:ext cx="3474720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스킬(스터디)</a:t>
            </a:r>
            <a:endParaRPr b="1" i="0" sz="13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8" name="Google Shape;68;p4"/>
          <p:cNvCxnSpPr/>
          <p:nvPr/>
        </p:nvCxnSpPr>
        <p:spPr>
          <a:xfrm>
            <a:off x="8214969" y="5158329"/>
            <a:ext cx="3474720" cy="0"/>
          </a:xfrm>
          <a:prstGeom prst="straightConnector1">
            <a:avLst/>
          </a:prstGeom>
          <a:noFill/>
          <a:ln cap="flat" cmpd="sng" w="12700">
            <a:solidFill>
              <a:srgbClr val="E4E0DA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9" name="Google Shape;69;p4"/>
          <p:cNvSpPr/>
          <p:nvPr/>
        </p:nvSpPr>
        <p:spPr>
          <a:xfrm>
            <a:off x="1586643" y="2098868"/>
            <a:ext cx="1307271" cy="1307271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19050">
            <a:solidFill>
              <a:srgbClr val="E6E6E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4324197" y="4865721"/>
            <a:ext cx="3474720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스킬(실무)</a:t>
            </a:r>
            <a:endParaRPr b="1" i="0" sz="13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71" name="Google Shape;71;p4"/>
          <p:cNvCxnSpPr/>
          <p:nvPr/>
        </p:nvCxnSpPr>
        <p:spPr>
          <a:xfrm>
            <a:off x="4324197" y="5158329"/>
            <a:ext cx="3474720" cy="0"/>
          </a:xfrm>
          <a:prstGeom prst="straightConnector1">
            <a:avLst/>
          </a:prstGeom>
          <a:noFill/>
          <a:ln cap="flat" cmpd="sng" w="12700">
            <a:solidFill>
              <a:srgbClr val="E4E0DA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php.png" id="72" name="Google Shape;7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5112" y="53309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 txBox="1"/>
          <p:nvPr/>
        </p:nvSpPr>
        <p:spPr>
          <a:xfrm>
            <a:off x="4727448" y="5303520"/>
            <a:ext cx="1417320" cy="301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PHP</a:t>
            </a:r>
            <a:endParaRPr/>
          </a:p>
        </p:txBody>
      </p:sp>
      <p:pic>
        <p:nvPicPr>
          <p:cNvPr descr="asp.png" id="74" name="Google Shape;7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8192" y="53309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 txBox="1"/>
          <p:nvPr/>
        </p:nvSpPr>
        <p:spPr>
          <a:xfrm>
            <a:off x="6510528" y="5303520"/>
            <a:ext cx="1417320" cy="301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ASP</a:t>
            </a:r>
            <a:endParaRPr/>
          </a:p>
        </p:txBody>
      </p:sp>
      <p:pic>
        <p:nvPicPr>
          <p:cNvPr descr="mysql.png" id="76" name="Google Shape;7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25112" y="56967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 txBox="1"/>
          <p:nvPr/>
        </p:nvSpPr>
        <p:spPr>
          <a:xfrm>
            <a:off x="4727448" y="5669280"/>
            <a:ext cx="1417320" cy="301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MySQL</a:t>
            </a:r>
            <a:endParaRPr/>
          </a:p>
        </p:txBody>
      </p:sp>
      <p:pic>
        <p:nvPicPr>
          <p:cNvPr descr="mariadb.png" id="78" name="Google Shape;7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08192" y="56967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 txBox="1"/>
          <p:nvPr/>
        </p:nvSpPr>
        <p:spPr>
          <a:xfrm>
            <a:off x="6510528" y="5669280"/>
            <a:ext cx="1417320" cy="301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MariaDB</a:t>
            </a:r>
            <a:endParaRPr/>
          </a:p>
        </p:txBody>
      </p:sp>
      <p:pic>
        <p:nvPicPr>
          <p:cNvPr descr="jquery.png" id="80" name="Google Shape;80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25112" y="60624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 txBox="1"/>
          <p:nvPr/>
        </p:nvSpPr>
        <p:spPr>
          <a:xfrm>
            <a:off x="4727448" y="6035040"/>
            <a:ext cx="1417320" cy="301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jQuery</a:t>
            </a:r>
            <a:endParaRPr/>
          </a:p>
        </p:txBody>
      </p:sp>
      <p:pic>
        <p:nvPicPr>
          <p:cNvPr descr="javascript.png" id="82" name="Google Shape;82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08192" y="60624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 txBox="1"/>
          <p:nvPr/>
        </p:nvSpPr>
        <p:spPr>
          <a:xfrm>
            <a:off x="6510528" y="6035040"/>
            <a:ext cx="1417320" cy="301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JavaScript</a:t>
            </a:r>
            <a:endParaRPr/>
          </a:p>
        </p:txBody>
      </p:sp>
      <p:pic>
        <p:nvPicPr>
          <p:cNvPr descr="spring.png" id="84" name="Google Shape;84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11312" y="53309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 txBox="1"/>
          <p:nvPr/>
        </p:nvSpPr>
        <p:spPr>
          <a:xfrm>
            <a:off x="8613648" y="5303520"/>
            <a:ext cx="1417320" cy="301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Spring</a:t>
            </a:r>
            <a:endParaRPr/>
          </a:p>
        </p:txBody>
      </p:sp>
      <p:pic>
        <p:nvPicPr>
          <p:cNvPr descr="codeigniter.png" id="86" name="Google Shape;86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994392" y="53309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 txBox="1"/>
          <p:nvPr/>
        </p:nvSpPr>
        <p:spPr>
          <a:xfrm>
            <a:off x="10396728" y="5303520"/>
            <a:ext cx="1417320" cy="301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CodeIgniter4</a:t>
            </a:r>
            <a:endParaRPr/>
          </a:p>
        </p:txBody>
      </p:sp>
      <p:pic>
        <p:nvPicPr>
          <p:cNvPr descr="react.png" id="88" name="Google Shape;88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11312" y="56967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 txBox="1"/>
          <p:nvPr/>
        </p:nvSpPr>
        <p:spPr>
          <a:xfrm>
            <a:off x="8613648" y="5669280"/>
            <a:ext cx="1417320" cy="301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React</a:t>
            </a:r>
            <a:endParaRPr/>
          </a:p>
        </p:txBody>
      </p:sp>
      <p:pic>
        <p:nvPicPr>
          <p:cNvPr descr="nginx.png" id="90" name="Google Shape;90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994392" y="56967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 txBox="1"/>
          <p:nvPr/>
        </p:nvSpPr>
        <p:spPr>
          <a:xfrm>
            <a:off x="10396728" y="5669280"/>
            <a:ext cx="1417320" cy="301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Nginx</a:t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8644302" y="3207025"/>
            <a:ext cx="819302" cy="237744"/>
          </a:xfrm>
          <a:prstGeom prst="roundRect">
            <a:avLst>
              <a:gd fmla="val 18000" name="adj"/>
            </a:avLst>
          </a:prstGeom>
          <a:solidFill>
            <a:srgbClr val="F4F2EE"/>
          </a:solidFill>
          <a:ln>
            <a:noFill/>
          </a:ln>
        </p:spPr>
        <p:txBody>
          <a:bodyPr anchorCtr="0" anchor="ctr" bIns="0" lIns="54850" spcFirstLastPara="1" rIns="548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개인 작업물</a:t>
            </a:r>
            <a:endParaRPr b="1" sz="900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8" name="Google Shape;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9" name="Google Shape;9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0" name="Google Shape;10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7145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" name="Google Shape;10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57700" y="371475"/>
            <a:ext cx="38100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24100" y="1600200"/>
            <a:ext cx="92583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24100" y="2419350"/>
            <a:ext cx="92583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4" name="Google Shape;10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24900" y="457200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 rot="-5400000">
            <a:off x="-1433512" y="3586163"/>
            <a:ext cx="4371975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0"/>
              <a:buFont typeface="Calibri"/>
              <a:buNone/>
            </a:pPr>
            <a:r>
              <a:rPr b="1" lang="en-US" sz="7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01</a:t>
            </a:r>
            <a:endParaRPr sz="7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2324100" y="276225"/>
            <a:ext cx="3276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PROFESSIONAL PROFILE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2324100" y="552450"/>
            <a:ext cx="8193405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550"/>
              <a:buFont typeface="Calibri"/>
              <a:buNone/>
            </a:pPr>
            <a:r>
              <a:rPr b="1" lang="en-US" sz="25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PART 1. 전체 경력과 반복 업무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2324100" y="1695450"/>
            <a:ext cx="300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2023.02 – 2026.01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229100" y="1695450"/>
            <a:ext cx="1924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㈜비즈폼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410200" y="1709738"/>
            <a:ext cx="2143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50"/>
              <a:buFont typeface="Noto Sans KR"/>
              <a:buNone/>
            </a:pPr>
            <a:r>
              <a:rPr lang="en-US" sz="13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/ 백엔드·서버개발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229100" y="2000250"/>
            <a:ext cx="742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PHP·jQuery 기반 메인 서비스 개발과 외부 API 연동을 담당하며 리워디 백오피스 전체를 총괄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2324100" y="2514600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2021.08 – 2022.09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229100" y="2514600"/>
            <a:ext cx="238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팩토리디포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419725" y="2528888"/>
            <a:ext cx="1525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350"/>
              <a:buFont typeface="Noto Sans KR"/>
              <a:buNone/>
            </a:pPr>
            <a:r>
              <a:rPr lang="en-US" sz="13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/ 백엔드·서버개발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229100" y="2819400"/>
            <a:ext cx="742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그누보드 기반 사내 인트라넷 서비스와 유통·재고관리 프로그램의 유지보수 및 신기능 개발을 담당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5"/>
          <p:cNvGrpSpPr/>
          <p:nvPr/>
        </p:nvGrpSpPr>
        <p:grpSpPr>
          <a:xfrm>
            <a:off x="2324100" y="3845412"/>
            <a:ext cx="5905500" cy="1693610"/>
            <a:chOff x="2324100" y="4148137"/>
            <a:chExt cx="5905500" cy="1693610"/>
          </a:xfrm>
        </p:grpSpPr>
        <p:pic>
          <p:nvPicPr>
            <p:cNvPr descr="preencoded.png" id="117" name="Google Shape;117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324100" y="4148137"/>
              <a:ext cx="5905500" cy="1693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reencoded.png" id="118" name="Google Shape;118;p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552700" y="5129213"/>
              <a:ext cx="5448300" cy="257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5"/>
            <p:cNvSpPr/>
            <p:nvPr/>
          </p:nvSpPr>
          <p:spPr>
            <a:xfrm>
              <a:off x="2552700" y="4433888"/>
              <a:ext cx="2019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85A3C"/>
                </a:buClr>
                <a:buSzPts val="3000"/>
                <a:buFont typeface="Calibri"/>
                <a:buNone/>
              </a:pPr>
              <a:r>
                <a:rPr b="1" lang="en-US" sz="3000">
                  <a:solidFill>
                    <a:srgbClr val="C85A3C"/>
                  </a:solidFill>
                  <a:latin typeface="Calibri"/>
                  <a:ea typeface="Calibri"/>
                  <a:cs typeface="Calibri"/>
                  <a:sym typeface="Calibri"/>
                </a:rPr>
                <a:t>2개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2552700" y="4833938"/>
              <a:ext cx="2156460" cy="200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4A4A"/>
                </a:buClr>
                <a:buSzPts val="1050"/>
                <a:buFont typeface="Noto Sans KR"/>
                <a:buNone/>
              </a:pPr>
              <a:r>
                <a:rPr b="1" lang="en-US" sz="1050">
                  <a:solidFill>
                    <a:srgbClr val="4A4A4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ORGANIZATIONS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3962400" y="4433888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85A3C"/>
                </a:buClr>
                <a:buSzPts val="3000"/>
                <a:buFont typeface="Calibri"/>
                <a:buNone/>
              </a:pPr>
              <a:r>
                <a:rPr b="1" lang="en-US" sz="3000">
                  <a:solidFill>
                    <a:srgbClr val="C85A3C"/>
                  </a:solidFill>
                  <a:latin typeface="Calibri"/>
                  <a:ea typeface="Calibri"/>
                  <a:cs typeface="Calibri"/>
                  <a:sym typeface="Calibri"/>
                </a:rPr>
                <a:t>10+건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3962400" y="4833938"/>
              <a:ext cx="1356360" cy="200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4A4A"/>
                </a:buClr>
                <a:buSzPts val="1050"/>
                <a:buFont typeface="Noto Sans KR"/>
                <a:buNone/>
              </a:pPr>
              <a:r>
                <a:rPr b="1" lang="en-US" sz="1050">
                  <a:solidFill>
                    <a:srgbClr val="4A4A4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PROJECTS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5457825" y="4433888"/>
              <a:ext cx="2019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85A3C"/>
                </a:buClr>
                <a:buSzPts val="3000"/>
                <a:buFont typeface="Calibri"/>
                <a:buNone/>
              </a:pPr>
              <a:r>
                <a:rPr b="1" lang="en-US" sz="3000">
                  <a:solidFill>
                    <a:srgbClr val="C85A3C"/>
                  </a:solidFill>
                  <a:latin typeface="Calibri"/>
                  <a:ea typeface="Calibri"/>
                  <a:cs typeface="Calibri"/>
                  <a:sym typeface="Calibri"/>
                </a:rPr>
                <a:t>3년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5457825" y="4833938"/>
              <a:ext cx="1676400" cy="200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4A4A"/>
                </a:buClr>
                <a:buSzPts val="1050"/>
                <a:buFont typeface="Noto Sans KR"/>
                <a:buNone/>
              </a:pPr>
              <a:r>
                <a:rPr b="1" lang="en-US" sz="1050">
                  <a:solidFill>
                    <a:srgbClr val="4A4A4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EXPERIENCE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5"/>
          <p:cNvSpPr/>
          <p:nvPr/>
        </p:nvSpPr>
        <p:spPr>
          <a:xfrm>
            <a:off x="2753424" y="4824801"/>
            <a:ext cx="708520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E5B4D"/>
              </a:buClr>
              <a:buSzPts val="1350"/>
              <a:buFont typeface="Noto Sans KR"/>
              <a:buNone/>
            </a:pPr>
            <a:r>
              <a:rPr b="1" lang="en-US" sz="1350">
                <a:solidFill>
                  <a:srgbClr val="3E5B4D"/>
                </a:solidFill>
                <a:latin typeface="Noto Sans KR"/>
                <a:ea typeface="Noto Sans KR"/>
                <a:cs typeface="Noto Sans KR"/>
                <a:sym typeface="Noto Sans KR"/>
              </a:rPr>
              <a:t>총 2개 조직 · 10개 프로젝트 · 3년의 실무 경험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8724900" y="4572001"/>
            <a:ext cx="26670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Noto Sans KR"/>
              <a:buNone/>
            </a:pPr>
            <a:r>
              <a:rPr lang="en-US" sz="10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부산 지역 IT 서비스 백엔드 개발 실무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82025" y="3822322"/>
            <a:ext cx="3049200" cy="171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4" name="Google Shape;13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3200" y="552450"/>
            <a:ext cx="38100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6" name="Google Shape;13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0588" y="2276475"/>
            <a:ext cx="952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81275" y="2038350"/>
            <a:ext cx="6286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62100" y="2814638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26710" y="1857375"/>
            <a:ext cx="385569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0" name="Google Shape;140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11605" y="2278856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1" name="Google Shape;14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0588" y="3838575"/>
            <a:ext cx="952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2" name="Google Shape;14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62100" y="4376738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26710" y="3419475"/>
            <a:ext cx="385569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62100" y="5938838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5" name="Google Shape;145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26710" y="4981575"/>
            <a:ext cx="385569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6" name="Google Shape;146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11605" y="5403056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/>
          <p:nvPr/>
        </p:nvSpPr>
        <p:spPr>
          <a:xfrm>
            <a:off x="609600" y="457200"/>
            <a:ext cx="3276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PROFESSIONAL PROFILE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09600" y="733425"/>
            <a:ext cx="60293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550"/>
              <a:buFont typeface="Calibri"/>
              <a:buNone/>
            </a:pPr>
            <a:r>
              <a:rPr b="1" lang="en-US" sz="25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경험이 쌓이며 확장된 역할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09600" y="1295400"/>
            <a:ext cx="91382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Noto Sans KR"/>
              <a:buNone/>
            </a:pPr>
            <a:r>
              <a:rPr lang="en-US" sz="13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초기 실무부터 최근의 의사결정 단계까지 경력 단계별 역할 변화와 주요 업무 범위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704850" y="1857375"/>
            <a:ext cx="15430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562100" y="1985963"/>
            <a:ext cx="57836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초기 경력</a:t>
            </a:r>
            <a:r>
              <a:rPr b="1" lang="en-US" sz="1050">
                <a:solidFill>
                  <a:srgbClr val="3E5B4D"/>
                </a:solidFill>
                <a:latin typeface="Noto Sans KR"/>
                <a:ea typeface="Noto Sans KR"/>
                <a:cs typeface="Noto Sans KR"/>
                <a:sym typeface="Noto Sans KR"/>
              </a:rPr>
              <a:t>JUNIOR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562100" y="2405063"/>
            <a:ext cx="586933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350"/>
              <a:buFont typeface="Noto Sans KR"/>
              <a:buNone/>
            </a:pPr>
            <a:r>
              <a:rPr b="1" lang="en-US" sz="1350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기초 실무 및 운영 역량 확보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819275" y="277653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처치실 재고관리 프로그램 제작 / 그누보드 기반 인트라넷 유지보수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8911530" y="2583656"/>
            <a:ext cx="260223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재고관리 프로그램 개발 화면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71513" y="3419475"/>
            <a:ext cx="15430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562100" y="3548063"/>
            <a:ext cx="57836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중기 경력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562100" y="3967163"/>
            <a:ext cx="586933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350"/>
              <a:buFont typeface="Noto Sans KR"/>
              <a:buNone/>
            </a:pPr>
            <a:r>
              <a:rPr b="1" lang="en-US" sz="1350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주도 및 부서 간 협업 역량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819275" y="433863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도메인별 리뉴얼·속도개선 / 서브도메인 7개 최적화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71513" y="4981575"/>
            <a:ext cx="15430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562100" y="5110163"/>
            <a:ext cx="57836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최근 경력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1562100" y="5529263"/>
            <a:ext cx="586933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350"/>
              <a:buFont typeface="Noto Sans KR"/>
              <a:buNone/>
            </a:pPr>
            <a:r>
              <a:rPr b="1" lang="en-US" sz="1350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정의, 의사결정 및 성과 책임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819275" y="590073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리워디 백오피스 총괄 / 메인 서비스·외부 API 관리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8911530" y="5707856"/>
            <a:ext cx="260223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리워디 백오피스 운영 화면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26680" y="3409950"/>
            <a:ext cx="3855600" cy="13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726680" y="1837804"/>
            <a:ext cx="3855600" cy="13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722696" y="4980824"/>
            <a:ext cx="3855600" cy="13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/>
          <p:nvPr/>
        </p:nvSpPr>
        <p:spPr>
          <a:xfrm>
            <a:off x="1819275" y="4537165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50"/>
              <a:buFont typeface="Noto Sans KR"/>
              <a:buNone/>
            </a:pPr>
            <a:r>
              <a:rPr b="1" lang="en-US" sz="1050">
                <a:solidFill>
                  <a:srgbClr val="A5A5A5"/>
                </a:solidFill>
                <a:latin typeface="Noto Sans KR"/>
                <a:ea typeface="Noto Sans KR"/>
                <a:cs typeface="Noto Sans KR"/>
                <a:sym typeface="Noto Sans KR"/>
              </a:rPr>
              <a:t>(SQL 쿼리 최적화, 인덱싱 활용)</a:t>
            </a:r>
            <a:endParaRPr sz="105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3" name="Google Shape;1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4" name="Google Shape;17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4670" y="552450"/>
            <a:ext cx="38100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5" name="Google Shape;17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1933575"/>
            <a:ext cx="2072580" cy="2262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6" name="Google Shape;17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" y="21621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7" name="Google Shape;17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9638" y="229552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8" name="Google Shape;178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34580" y="1933575"/>
            <a:ext cx="2072580" cy="2262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9" name="Google Shape;179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25080" y="21621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0" name="Google Shape;18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34618" y="229552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1" name="Google Shape;18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59561" y="1933575"/>
            <a:ext cx="2072729" cy="2262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2" name="Google Shape;18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50061" y="21621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3" name="Google Shape;183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59598" y="229552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4" name="Google Shape;184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84690" y="1933575"/>
            <a:ext cx="2072580" cy="2262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5" name="Google Shape;18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75190" y="21621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6" name="Google Shape;186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84728" y="229552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7" name="Google Shape;187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509671" y="1933575"/>
            <a:ext cx="2072729" cy="2262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8" name="Google Shape;188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700171" y="21621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9" name="Google Shape;18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09708" y="229552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0" name="Google Shape;190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09600" y="4500563"/>
            <a:ext cx="10972800" cy="15277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1" name="Google Shape;191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90600" y="5014913"/>
            <a:ext cx="171837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/>
          <p:nvPr/>
        </p:nvSpPr>
        <p:spPr>
          <a:xfrm>
            <a:off x="609600" y="457200"/>
            <a:ext cx="263652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WORK METHODOLOGY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09600" y="733425"/>
            <a:ext cx="7545705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550"/>
              <a:buFont typeface="Calibri"/>
              <a:buNone/>
            </a:pPr>
            <a:r>
              <a:rPr b="1" lang="en-US" sz="25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반복 업무가 만든 나의 일하는 방식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09600" y="1295400"/>
            <a:ext cx="99612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Noto Sans KR"/>
              <a:buNone/>
            </a:pPr>
            <a:r>
              <a:rPr lang="en-US" sz="13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정의부터 결과 도출까지 반복적으로 수행해온 핵심 업무 프로세스와 개인의 업무 원칙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800100" y="2809875"/>
            <a:ext cx="176778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01. DEFINE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800100" y="3033713"/>
            <a:ext cx="17868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정의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800100" y="3509963"/>
            <a:ext cx="16915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느린 페이지 속도와 검색엔진 노출 저하 등 서비스 운영상 문제를 트래픽·쿼리 데이터로 정의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3025080" y="2809875"/>
            <a:ext cx="176778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02. DESIGN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025080" y="3033713"/>
            <a:ext cx="17868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실행 설계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3025080" y="3509963"/>
            <a:ext cx="16915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서브도메인별 우선순위를 정하고 쿼리 최적화·메타태그 개선 순으로 작업 계획 수립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250061" y="2809875"/>
            <a:ext cx="1767929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03. CREATE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250061" y="3033713"/>
            <a:ext cx="17869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결과물 제작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250061" y="3509963"/>
            <a:ext cx="169172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백어파일 확보 후 신규 디자인 및 UI에 맞게 데이터 출력 기준도 재설계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7475190" y="2809875"/>
            <a:ext cx="176778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04. ALIGN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7475190" y="3033713"/>
            <a:ext cx="17868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협업 조율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7475190" y="3509963"/>
            <a:ext cx="16915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기획 및 UI 퍼블리싱팀의 요구에 정확하게 맞는 기능을 개발하고 개선사항을 접목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9700171" y="2809875"/>
            <a:ext cx="190881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05. IMPROVE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9700171" y="3033713"/>
            <a:ext cx="17869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개선/회고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9700171" y="3509963"/>
            <a:ext cx="169172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작업이 완료된 후에도 구글 애널리틱스, 네이버 서치 어드바이저를 통하여 트래픽 개선율을 지속적으로 확인 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990600" y="4805363"/>
            <a:ext cx="10439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1104900" y="5014913"/>
            <a:ext cx="2097724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 WORK PRINCIPLE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990600" y="5376863"/>
            <a:ext cx="10334625" cy="3466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Noto Sans KR"/>
              <a:buNone/>
            </a:pPr>
            <a:r>
              <a:rPr b="1" lang="en-US" sz="19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데이터로 문제를 확인하고, 직접 만든 결과로 증명한다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8" name="Google Shape;2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9" name="Google Shape;21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0" name="Google Shape;22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2667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1" name="Google Shape;22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0200" y="371475"/>
            <a:ext cx="38100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2" name="Google Shape;22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76600" y="1600200"/>
            <a:ext cx="8305800" cy="6399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3" name="Google Shape;22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76600" y="2516386"/>
            <a:ext cx="8305800" cy="1233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4" name="Google Shape;224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76600" y="4026098"/>
            <a:ext cx="2616101" cy="2281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5" name="Google Shape;225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67100" y="4969073"/>
            <a:ext cx="2235101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6" name="Google Shape;226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21301" y="4026098"/>
            <a:ext cx="2616250" cy="2281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7" name="Google Shape;227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11801" y="4969073"/>
            <a:ext cx="223525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8" name="Google Shape;228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66150" y="4026098"/>
            <a:ext cx="2616101" cy="2281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9" name="Google Shape;229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156650" y="4969073"/>
            <a:ext cx="2235101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/>
          <p:nvPr/>
        </p:nvSpPr>
        <p:spPr>
          <a:xfrm rot="-5400000">
            <a:off x="-1533525" y="2762250"/>
            <a:ext cx="54292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0"/>
              <a:buFont typeface="Calibri"/>
              <a:buNone/>
            </a:pPr>
            <a:r>
              <a:rPr b="1" lang="en-US" sz="10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PART 02</a:t>
            </a:r>
            <a:endParaRPr sz="10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3276600" y="276225"/>
            <a:ext cx="3276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PROFESSIONAL PROFILE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3276600" y="552450"/>
            <a:ext cx="8193405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550"/>
              <a:buFont typeface="Calibri"/>
              <a:buNone/>
            </a:pPr>
            <a:r>
              <a:rPr b="1" lang="en-US" sz="25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PART 2. 실제로 만들어 낸 결과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3276600" y="1114425"/>
            <a:ext cx="68751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Noto Sans KR"/>
              <a:buNone/>
            </a:pPr>
            <a:r>
              <a:rPr lang="en-US" sz="13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담당 업무를 넘어, 문제를 어떻게 바꾸었는지 보여 주는 기록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3467100" y="1600200"/>
            <a:ext cx="8115300" cy="639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요청에 의하여 움직이는 수행이 아닌, 원인을 함께 분석하고 개선 방향성을 주도적으로 결정하여 작업한다.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3505200" y="2649736"/>
            <a:ext cx="248915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SITUATION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505200" y="2883098"/>
            <a:ext cx="2498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Noto Sans KR"/>
              <a:buNone/>
            </a:pPr>
            <a:r>
              <a:rPr b="1" lang="en-US" sz="13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원인 분석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505200" y="3187898"/>
            <a:ext cx="2412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문제의 원인을 분석하거나 기업에게 필요에 맞는 서비스를 분석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222950" y="2649736"/>
            <a:ext cx="248915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6222950" y="2883098"/>
            <a:ext cx="2498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Noto Sans KR"/>
              <a:buNone/>
            </a:pPr>
            <a:r>
              <a:rPr b="1" lang="en-US" sz="13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방향성 정의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222950" y="3187898"/>
            <a:ext cx="2412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5"/>
              <a:buFont typeface="Noto Sans KR"/>
              <a:buNone/>
            </a:pPr>
            <a:r>
              <a:rPr lang="en-US" sz="1125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개선을 위한 기획과 작업 방식의 방향성에 대하여 결정</a:t>
            </a:r>
            <a:endParaRPr sz="112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8940701" y="2649736"/>
            <a:ext cx="248915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8940701" y="2883098"/>
            <a:ext cx="2498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Noto Sans KR"/>
              <a:buNone/>
            </a:pPr>
            <a:r>
              <a:rPr b="1" lang="en-US" sz="13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성과와 변화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8940701" y="3187898"/>
            <a:ext cx="2412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작업 후 개선 사항을 체크하고 약점에 따른 추가 조치를 실시 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3467100" y="4140398"/>
            <a:ext cx="2311301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CASE 01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3467100" y="4407098"/>
            <a:ext cx="2393752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리워디 백오피스 구축 및 배포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프로세스 전환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3467100" y="4969073"/>
            <a:ext cx="2006501" cy="971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리워디 백오피스 화면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(대시보드/산출물 이미지)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3698081" y="6007298"/>
            <a:ext cx="2235101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Calibri"/>
              <a:buNone/>
            </a:pPr>
            <a:r>
              <a:t/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311801" y="4140398"/>
            <a:ext cx="231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CASE 02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6311801" y="4407098"/>
            <a:ext cx="26860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웹 서비스 속도 개선 프로젝트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6311801" y="4969073"/>
            <a:ext cx="2006650" cy="971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속도 개선 전후 비교 데이터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(대시보드/산출물 이미지)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542782" y="6007298"/>
            <a:ext cx="223525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Calibri"/>
              <a:buNone/>
            </a:pPr>
            <a:r>
              <a:t/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9156650" y="4140398"/>
            <a:ext cx="2311301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CASE 03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9156650" y="4407098"/>
            <a:ext cx="26860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외부 API 통합 관리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9156650" y="4969073"/>
            <a:ext cx="2006501" cy="971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결제 API 연동 구조도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(대시보드/산출물 이미지)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9387632" y="6007298"/>
            <a:ext cx="2235101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Calibri"/>
              <a:buNone/>
            </a:pPr>
            <a:r>
              <a:t/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156650" y="4974715"/>
            <a:ext cx="2235600" cy="943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311302" y="4977795"/>
            <a:ext cx="2235600" cy="9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477242" y="4978679"/>
            <a:ext cx="2235600" cy="9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4" name="Google Shape;2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5" name="Google Shape;26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6" name="Google Shape;26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3214" y="381000"/>
            <a:ext cx="38100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7" name="Google Shape;26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1586466"/>
            <a:ext cx="109728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8" name="Google Shape;26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071761"/>
            <a:ext cx="701546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9" name="Google Shape;269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5271449"/>
            <a:ext cx="7015460" cy="890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0" name="Google Shape;270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01310" y="1752600"/>
            <a:ext cx="327154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1" name="Google Shape;271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75105" y="269033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2" name="Google Shape;272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01310" y="4029075"/>
            <a:ext cx="327154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3" name="Google Shape;273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175105" y="477202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9"/>
          <p:cNvSpPr/>
          <p:nvPr/>
        </p:nvSpPr>
        <p:spPr>
          <a:xfrm>
            <a:off x="609600" y="285750"/>
            <a:ext cx="199644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CASE STUDIES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609600" y="798495"/>
            <a:ext cx="8405091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125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필요에 맞는 서비스를 제공하기 위한 원인 분석과 기능 생성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609600" y="1123950"/>
            <a:ext cx="74923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819150" y="1752600"/>
            <a:ext cx="71107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리워디 백오피스 구축 및 Git 배포 전환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1031081" y="2537932"/>
            <a:ext cx="701546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PROBLEM / CONTEXT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819150" y="2761770"/>
            <a:ext cx="8477250" cy="5243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      리워디 프로젝트에 참여한 후 백오피스 관리 영역이 필요하여 전체 총괄을 담당하여 제작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      배포 서버에 파일 업로드 방식을 기존 FTP 프로그램에서 보안과 개발팀 내 충돌 없는 효율적인 배포를 위해 Git 구축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1031081" y="4155103"/>
            <a:ext cx="701546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CORE ACTIONS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990600" y="4388466"/>
            <a:ext cx="692021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리눅스 서버에 부트스트랩 기반으로 서비스별 데이터 관리 페이지를 설계</a:t>
            </a:r>
            <a:endParaRPr sz="1125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990600" y="4640878"/>
            <a:ext cx="692021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리워디 백오피스 전체 페이지를 직접 퍼블리싱하고 기능을 구현</a:t>
            </a:r>
            <a:endParaRPr sz="1125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990600" y="4893290"/>
            <a:ext cx="692021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FTP 업로드 방식을 Git 연동 배포로 전환해 코드 관리와 배포 프로세스를 표준화</a:t>
            </a:r>
            <a:endParaRPr sz="1125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933450" y="5347649"/>
            <a:ext cx="686306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RESULT / IMPACT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933450" y="5552436"/>
            <a:ext cx="68916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E5B4D"/>
              </a:buClr>
              <a:buSzPts val="1650"/>
              <a:buFont typeface="Calibri"/>
              <a:buNone/>
            </a:pPr>
            <a:r>
              <a:rPr b="1" lang="en-US" sz="1650">
                <a:solidFill>
                  <a:srgbClr val="3E5B4D"/>
                </a:solidFill>
                <a:latin typeface="Calibri"/>
                <a:ea typeface="Calibri"/>
                <a:cs typeface="Calibri"/>
                <a:sym typeface="Calibri"/>
              </a:rPr>
              <a:t>배포 소요 시간과 실수 위험 대폭 감소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933450" y="5885811"/>
            <a:ext cx="686306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Noto Sans KR"/>
              <a:buNone/>
            </a:pPr>
            <a:r>
              <a:rPr lang="en-US" sz="10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코드 버전 관리 체계가 자리 잡으며 배포 신뢰도가 높아졌고, 이후 다른 서비스에도 Git 배포 방식이 확산됨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9175105" y="2495550"/>
            <a:ext cx="11239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리워디 백오피스 화면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상황·전후 비교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9175105" y="4772025"/>
            <a:ext cx="11239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Git 배포 워크플로우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결과물·성과 증빙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098915" y="1742326"/>
            <a:ext cx="3272400" cy="214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98915" y="4021636"/>
            <a:ext cx="3272400" cy="214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9"/>
          <p:cNvSpPr/>
          <p:nvPr/>
        </p:nvSpPr>
        <p:spPr>
          <a:xfrm>
            <a:off x="819150" y="2172984"/>
            <a:ext cx="709166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Noto Sans KR"/>
              <a:buNone/>
            </a:pPr>
            <a:r>
              <a:rPr lang="en-US" sz="10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2023.11 – 2024.05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996315" y="3487107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MY ROLE &amp; SCOPE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996315" y="3707680"/>
            <a:ext cx="7105650" cy="377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백오피스 환경·쿼리를 설계하고, 서버 권한 설정으로 FTP를 Git 배포로 전환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9" name="Google Shape;2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0" name="Google Shape;30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1" name="Google Shape;30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1649109"/>
            <a:ext cx="109728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2" name="Google Shape;30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1820559"/>
            <a:ext cx="701546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3" name="Google Shape;303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01310" y="1820559"/>
            <a:ext cx="327154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4" name="Google Shape;304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97714" y="2750437"/>
            <a:ext cx="154781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5" name="Google Shape;305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01310" y="4097034"/>
            <a:ext cx="327154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6" name="Google Shape;306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97714" y="5026912"/>
            <a:ext cx="154781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0"/>
          <p:cNvSpPr/>
          <p:nvPr/>
        </p:nvSpPr>
        <p:spPr>
          <a:xfrm>
            <a:off x="609600" y="285750"/>
            <a:ext cx="476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CASE STUDIES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609600" y="5334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609600" y="1153809"/>
            <a:ext cx="749236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819150" y="1820559"/>
            <a:ext cx="71202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50"/>
              <a:buFont typeface="Noto Sans KR"/>
              <a:buNone/>
            </a:pPr>
            <a:r>
              <a:rPr b="1" lang="en-US" sz="16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비즈폼 </a:t>
            </a:r>
            <a:r>
              <a:rPr b="1" lang="en-US" sz="16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웹 서비스 유지보수 관리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819150" y="2172984"/>
            <a:ext cx="709166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Noto Sans KR"/>
              <a:buNone/>
            </a:pPr>
            <a:r>
              <a:rPr lang="en-US" sz="10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2025.03 – 2025.12 · 담당 개발자 · 마케팅팀 협업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819150" y="2592084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PROBLEM / CONTEXT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819150" y="2792109"/>
            <a:ext cx="9163050" cy="221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각 도메인별 리뉴얼과 신규 이벤트, 서비스 페이지 작업에 따른 테이블,쿼리 설계 담당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819150" y="3086769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MY ROLE &amp; SCOPE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819150" y="3307342"/>
            <a:ext cx="7105650" cy="221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서브 도메인의 리뉴얼 진행시 그에 따른 파일 재작업, 신규 이벤트,서비스의 데이터 관리 및 기능 구현 담당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819150" y="3756113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CORE ACTIONS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812327" y="4181662"/>
            <a:ext cx="6920210" cy="207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MS-SQL 인덱싱을 통하여 검색 속도 개선을 위한 추가 작업 진행과 지속적인 관리 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812327" y="4406463"/>
            <a:ext cx="6920210" cy="207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쿼리 최적화와 meta 태그 변경을 통해 7개 서브도메인을 순차적으로 개선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812327" y="3941370"/>
            <a:ext cx="69201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 리뉴얼 되는 페이지의 레거시 asp 코드 형태의 파일에 대한 쿼리 최적화 진행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812327" y="4628053"/>
            <a:ext cx="6920210" cy="207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신규 이벤트와 서비스를 진행할 때 필요한 데이터 관리나 기능 구현을 JQuery와 AJAX를 통하여 작업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321" name="Google Shape;321;p10"/>
          <p:cNvGrpSpPr/>
          <p:nvPr/>
        </p:nvGrpSpPr>
        <p:grpSpPr>
          <a:xfrm>
            <a:off x="764700" y="5247172"/>
            <a:ext cx="7015460" cy="992981"/>
            <a:chOff x="819150" y="4997147"/>
            <a:chExt cx="7015460" cy="992981"/>
          </a:xfrm>
        </p:grpSpPr>
        <p:pic>
          <p:nvPicPr>
            <p:cNvPr descr="preencoded.png" id="322" name="Google Shape;322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19150" y="4997147"/>
              <a:ext cx="7015460" cy="9929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10"/>
            <p:cNvSpPr/>
            <p:nvPr/>
          </p:nvSpPr>
          <p:spPr>
            <a:xfrm>
              <a:off x="952500" y="5101922"/>
              <a:ext cx="6825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85A3C"/>
                </a:buClr>
                <a:buSzPts val="975"/>
                <a:buFont typeface="Calibri"/>
                <a:buNone/>
              </a:pPr>
              <a:r>
                <a:rPr b="1" lang="en-US" sz="975">
                  <a:solidFill>
                    <a:srgbClr val="C85A3C"/>
                  </a:solidFill>
                  <a:latin typeface="Calibri"/>
                  <a:ea typeface="Calibri"/>
                  <a:cs typeface="Calibri"/>
                  <a:sym typeface="Calibri"/>
                </a:rPr>
                <a:t>RESULT / IMPACT</a:t>
              </a:r>
              <a:endParaRPr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0"/>
            <p:cNvSpPr/>
            <p:nvPr/>
          </p:nvSpPr>
          <p:spPr>
            <a:xfrm>
              <a:off x="952500" y="5292422"/>
              <a:ext cx="68631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E5B4D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rgbClr val="3E5B4D"/>
                  </a:solidFill>
                  <a:latin typeface="Calibri"/>
                  <a:ea typeface="Calibri"/>
                  <a:cs typeface="Calibri"/>
                  <a:sym typeface="Calibri"/>
                </a:rPr>
                <a:t>비즈폼 엑셀 진입 속도 3.4초 → 0.8초, 평균 트래픽 5,000 → 8,000 상승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0"/>
            <p:cNvSpPr/>
            <p:nvPr/>
          </p:nvSpPr>
          <p:spPr>
            <a:xfrm>
              <a:off x="952500" y="5663897"/>
              <a:ext cx="6824960" cy="221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5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4A4A4A"/>
                </a:buClr>
                <a:buSzPts val="1125"/>
                <a:buFont typeface="Noto Sans KR"/>
                <a:buNone/>
              </a:pPr>
              <a:r>
                <a:rPr lang="en-US" sz="1125">
                  <a:solidFill>
                    <a:srgbClr val="4A4A4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속도 개선이 트래픽 상승으로 이어진다는 것을 데이터로 확인했고, 이후 다른 도메인 개선 작업의 기준이 됨</a:t>
              </a:r>
              <a:endParaRPr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6" name="Google Shape;326;p10"/>
          <p:cNvSpPr/>
          <p:nvPr/>
        </p:nvSpPr>
        <p:spPr>
          <a:xfrm>
            <a:off x="8975080" y="2712635"/>
            <a:ext cx="1524000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속도 개선 전후 비교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상황·프로세스·전후 비교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9097714" y="4989110"/>
            <a:ext cx="1278731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속도·트래픽 개선 데이터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결과물·성과 증빙·피드백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609600" y="839484"/>
            <a:ext cx="9469348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125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서비스에 적합한 구조 설계를 최적화하고 고객의 접근성을 높이기 위한 개선 작업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00450" y="4096848"/>
            <a:ext cx="3272400" cy="214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107273" y="1819140"/>
            <a:ext cx="3272400" cy="214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6" name="Google Shape;3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7" name="Google Shape;33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8" name="Google Shape;33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166" y="1581150"/>
            <a:ext cx="109728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9" name="Google Shape;33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1752600"/>
            <a:ext cx="701546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0" name="Google Shape;34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4929188"/>
            <a:ext cx="7015460" cy="992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1" name="Google Shape;34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01310" y="1752600"/>
            <a:ext cx="327154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2" name="Google Shape;342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97714" y="2682478"/>
            <a:ext cx="154781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3" name="Google Shape;343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01310" y="4029075"/>
            <a:ext cx="327154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4" name="Google Shape;344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097714" y="4958953"/>
            <a:ext cx="154781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1"/>
          <p:cNvSpPr/>
          <p:nvPr/>
        </p:nvSpPr>
        <p:spPr>
          <a:xfrm>
            <a:off x="609600" y="285750"/>
            <a:ext cx="476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CASE STUDIES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609600" y="776288"/>
            <a:ext cx="8924818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외부 API를 적극 활용하여 서비스의 편의성과 결제 시스템을 관리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819150" y="1752600"/>
            <a:ext cx="71202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50"/>
              <a:buFont typeface="Noto Sans KR"/>
              <a:buNone/>
            </a:pPr>
            <a:r>
              <a:rPr b="1" lang="en-US" sz="16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API 통합 관리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819150" y="2105025"/>
            <a:ext cx="709166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Noto Sans KR"/>
              <a:buNone/>
            </a:pPr>
            <a:r>
              <a:rPr lang="en-US" sz="10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2024.02 – 2026.01 · API 담당 · 결제사·CS팀 협업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819150" y="2524125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PROBLEM / CONTEXT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819150" y="2724150"/>
            <a:ext cx="9163050" cy="221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4개의 결제사를 통해 월 결제, 우대고객 할인율 관리를 담당하고 구글 SSO 로그인을 적용하여 SNS를 통한 가입율 증대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819150" y="3059906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MY ROLE &amp; SCOPE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819150" y="3259931"/>
            <a:ext cx="7105650" cy="221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결제 API 컨트롤러 연동과 이벤트, 고객 할인율에 따른 금액 조정, SSO 로그인 API 전체 프로세스에 적용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819150" y="3595688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CORE ACTIONS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4" name="Google Shape;354;p11"/>
          <p:cNvGrpSpPr/>
          <p:nvPr/>
        </p:nvGrpSpPr>
        <p:grpSpPr>
          <a:xfrm>
            <a:off x="819150" y="3795713"/>
            <a:ext cx="6920210" cy="971550"/>
            <a:chOff x="990600" y="3500438"/>
            <a:chExt cx="6920210" cy="971550"/>
          </a:xfrm>
        </p:grpSpPr>
        <p:sp>
          <p:nvSpPr>
            <p:cNvPr id="355" name="Google Shape;355;p11"/>
            <p:cNvSpPr/>
            <p:nvPr/>
          </p:nvSpPr>
          <p:spPr>
            <a:xfrm>
              <a:off x="990600" y="3500438"/>
              <a:ext cx="6920210" cy="20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1A1A1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이니시스·빌게이트·네이버페이·카카오페이 4개 결제 API를 연동·운영 이상유무 확인 및 관리</a:t>
              </a:r>
              <a:endParaRPr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1"/>
            <p:cNvSpPr/>
            <p:nvPr/>
          </p:nvSpPr>
          <p:spPr>
            <a:xfrm>
              <a:off x="990600" y="3755231"/>
              <a:ext cx="6920210" cy="20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1A1A1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매월 결제 시스템 이상 유무를 점검하고 할인 이벤트 진행시 가격을 직접 조정</a:t>
              </a:r>
              <a:endParaRPr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1"/>
            <p:cNvSpPr/>
            <p:nvPr/>
          </p:nvSpPr>
          <p:spPr>
            <a:xfrm>
              <a:off x="990600" y="4010025"/>
              <a:ext cx="6920210" cy="20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977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125"/>
                <a:buFont typeface="Noto Sans KR"/>
                <a:buNone/>
              </a:pPr>
              <a:r>
                <a:rPr lang="en-US" sz="1125">
                  <a:solidFill>
                    <a:srgbClr val="1A1A1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구글 SSO 로그인을 비즈폼 서비스에 적용, API 가이드 문서를 기반으로 jQuery·AJAX 비동기 통신으로 구현</a:t>
              </a:r>
              <a:endParaRPr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1"/>
            <p:cNvSpPr/>
            <p:nvPr/>
          </p:nvSpPr>
          <p:spPr>
            <a:xfrm>
              <a:off x="990600" y="4264819"/>
              <a:ext cx="6920210" cy="20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977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125"/>
                <a:buFont typeface="Noto Sans KR"/>
                <a:buNone/>
              </a:pPr>
              <a:r>
                <a:rPr lang="en-US" sz="1125">
                  <a:solidFill>
                    <a:srgbClr val="1A1A1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메일플러그 연동을 포함한 정기 점검 체크리스트로 프로세스를 표준화</a:t>
              </a:r>
              <a:endParaRPr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" name="Google Shape;359;p11"/>
          <p:cNvSpPr/>
          <p:nvPr/>
        </p:nvSpPr>
        <p:spPr>
          <a:xfrm>
            <a:off x="952500" y="5033963"/>
            <a:ext cx="68249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RESULT / IMPACT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952500" y="5224463"/>
            <a:ext cx="686306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5B4D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3E5B4D"/>
                </a:solidFill>
                <a:latin typeface="Calibri"/>
                <a:ea typeface="Calibri"/>
                <a:cs typeface="Calibri"/>
                <a:sym typeface="Calibri"/>
              </a:rPr>
              <a:t>4개 결제사 API 무중단 안정 운영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952500" y="5595938"/>
            <a:ext cx="6824960" cy="221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결제 시스템 신뢰도가 높아졌고, 정기 점검 체계 덕분에 장애 발생률을 낮게 유지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8975080" y="2644676"/>
            <a:ext cx="1524000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결제 API 연동 구조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상황·프로세스·전후 비교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9097714" y="4921151"/>
            <a:ext cx="1278731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결제 시스템 점검 로그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결과물·성과 증빙·피드백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10724" y="4035392"/>
            <a:ext cx="3272400" cy="214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100450" y="1772698"/>
            <a:ext cx="3272400" cy="214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0" name="Google Shape;37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1" name="Google Shape;37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2" name="Google Shape;37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2667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3" name="Google Shape;37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0200" y="371475"/>
            <a:ext cx="38100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4" name="Google Shape;374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76600" y="1600200"/>
            <a:ext cx="8305800" cy="6399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5" name="Google Shape;375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33575" y="2468761"/>
            <a:ext cx="8508741" cy="1233488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2"/>
          <p:cNvSpPr/>
          <p:nvPr/>
        </p:nvSpPr>
        <p:spPr>
          <a:xfrm rot="-5400000">
            <a:off x="-1533525" y="2762250"/>
            <a:ext cx="54292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0"/>
              <a:buFont typeface="Calibri"/>
              <a:buNone/>
            </a:pPr>
            <a:r>
              <a:rPr b="1" lang="en-US" sz="10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PART 03</a:t>
            </a:r>
            <a:endParaRPr sz="10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3276600" y="276225"/>
            <a:ext cx="3276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SIDE PROJECTS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3276600" y="552450"/>
            <a:ext cx="8193405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550"/>
              <a:buFont typeface="Calibri"/>
              <a:buNone/>
            </a:pPr>
            <a:r>
              <a:rPr b="1" lang="en-US" sz="25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PART 3. 개인 작업물 프로젝트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3276600" y="1114425"/>
            <a:ext cx="68751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Noto Sans KR"/>
              <a:buNone/>
            </a:pPr>
            <a:r>
              <a:rPr lang="en-US" sz="13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필요하다고 생각했던 </a:t>
            </a:r>
            <a:r>
              <a:rPr lang="en-US" sz="1350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아이디어를 직접 기획하고 완성까지 마친 기록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3467100" y="1600200"/>
            <a:ext cx="8115300" cy="639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스킬에 대한 다양성을 넓히고, AI를 활용하여 기획부터 세부 설계까지 담당하여 웹 서비스에 대한 전체적인 개발 역량을 강화한다.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3505200" y="2649736"/>
            <a:ext cx="248915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SITUATION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3505200" y="2883098"/>
            <a:ext cx="2498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Noto Sans KR"/>
              <a:buNone/>
            </a:pPr>
            <a:r>
              <a:rPr b="1" lang="en-US" sz="13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 발견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3505200" y="3187898"/>
            <a:ext cx="2412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일상에서 평소 필요하다고 느낀 아이템을</a:t>
            </a:r>
            <a:endParaRPr sz="1125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활용하여 아이디어 활용</a:t>
            </a:r>
            <a:endParaRPr sz="1125">
              <a:solidFill>
                <a:srgbClr val="4A4A4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6222950" y="2649736"/>
            <a:ext cx="248915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6222950" y="2883098"/>
            <a:ext cx="2498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Noto Sans KR"/>
              <a:buNone/>
            </a:pPr>
            <a:r>
              <a:rPr b="1" lang="en-US" sz="13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기획 및 개발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6222950" y="3187898"/>
            <a:ext cx="2412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5"/>
              <a:buFont typeface="Noto Sans KR"/>
              <a:buNone/>
            </a:pPr>
            <a:r>
              <a:rPr lang="en-US" sz="1125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기획, 디자인, 개발까지 전 과정을 처음부터 끝까지 직접 진행</a:t>
            </a:r>
            <a:endParaRPr sz="112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8940701" y="2649736"/>
            <a:ext cx="248915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Calibri"/>
              <a:buNone/>
            </a:pPr>
            <a:r>
              <a:rPr b="1" lang="en-US" sz="975">
                <a:solidFill>
                  <a:srgbClr val="C85A3C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8940701" y="2883098"/>
            <a:ext cx="2498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Noto Sans KR"/>
              <a:buNone/>
            </a:pPr>
            <a:r>
              <a:rPr b="1" lang="en-US" sz="13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완성과 배포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8940701" y="3187898"/>
            <a:ext cx="2412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4A4A4A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서비스로 배포하고 사용해 보며 얻은 경험을 정리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0" name="Google Shape;390;p12"/>
          <p:cNvGrpSpPr/>
          <p:nvPr/>
        </p:nvGrpSpPr>
        <p:grpSpPr>
          <a:xfrm>
            <a:off x="7600669" y="4026098"/>
            <a:ext cx="4041648" cy="2281238"/>
            <a:chOff x="3276600" y="4026098"/>
            <a:chExt cx="4041648" cy="2281238"/>
          </a:xfrm>
        </p:grpSpPr>
        <p:pic>
          <p:nvPicPr>
            <p:cNvPr descr="preencoded.png" id="391" name="Google Shape;391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276600" y="4026098"/>
              <a:ext cx="4041648" cy="22812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12"/>
            <p:cNvSpPr/>
            <p:nvPr/>
          </p:nvSpPr>
          <p:spPr>
            <a:xfrm>
              <a:off x="3467100" y="4140398"/>
              <a:ext cx="2311301" cy="200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C8C8C"/>
                </a:buClr>
                <a:buSzPts val="1050"/>
                <a:buFont typeface="Calibri"/>
                <a:buNone/>
              </a:pPr>
              <a:r>
                <a:rPr b="1" lang="en-US" sz="1050">
                  <a:solidFill>
                    <a:srgbClr val="8C8C8C"/>
                  </a:solidFill>
                  <a:latin typeface="Calibri"/>
                  <a:ea typeface="Calibri"/>
                  <a:cs typeface="Calibri"/>
                  <a:sym typeface="Calibri"/>
                </a:rPr>
                <a:t>CASE 02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2"/>
            <p:cNvSpPr/>
            <p:nvPr/>
          </p:nvSpPr>
          <p:spPr>
            <a:xfrm>
              <a:off x="3467100" y="4407098"/>
              <a:ext cx="2393752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500"/>
                <a:buFont typeface="Noto Sans KR"/>
                <a:buNone/>
              </a:pPr>
              <a:r>
                <a:rPr b="1" lang="en-US" sz="1500">
                  <a:solidFill>
                    <a:srgbClr val="1A1A1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맛지도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t/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2"/>
            <p:cNvSpPr/>
            <p:nvPr/>
          </p:nvSpPr>
          <p:spPr>
            <a:xfrm>
              <a:off x="3467100" y="4969073"/>
              <a:ext cx="2006501" cy="971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50051"/>
                </a:lnSpc>
                <a:spcBef>
                  <a:spcPts val="0"/>
                </a:spcBef>
                <a:spcAft>
                  <a:spcPts val="0"/>
                </a:spcAft>
                <a:buClr>
                  <a:srgbClr val="8C8C8C"/>
                </a:buClr>
                <a:buSzPts val="975"/>
                <a:buFont typeface="Noto Sans KR"/>
                <a:buNone/>
              </a:pPr>
              <a:r>
                <a:rPr lang="en-US" sz="975">
                  <a:solidFill>
                    <a:srgbClr val="8C8C8C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맛지도 화면</a:t>
              </a:r>
              <a:endParaRPr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50051"/>
                </a:lnSpc>
                <a:spcBef>
                  <a:spcPts val="0"/>
                </a:spcBef>
                <a:spcAft>
                  <a:spcPts val="0"/>
                </a:spcAft>
                <a:buClr>
                  <a:srgbClr val="8C8C8C"/>
                </a:buClr>
                <a:buSzPts val="975"/>
                <a:buFont typeface="Noto Sans KR"/>
                <a:buNone/>
              </a:pPr>
              <a:r>
                <a:rPr lang="en-US" sz="975">
                  <a:solidFill>
                    <a:srgbClr val="8C8C8C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(스크린샷 입력 필요)</a:t>
              </a:r>
              <a:endParaRPr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2"/>
            <p:cNvSpPr/>
            <p:nvPr/>
          </p:nvSpPr>
          <p:spPr>
            <a:xfrm>
              <a:off x="3698081" y="6007298"/>
              <a:ext cx="2235101" cy="1857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5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75"/>
                <a:buFont typeface="Calibri"/>
                <a:buNone/>
              </a:pPr>
              <a:r>
                <a:t/>
              </a:r>
              <a:endParaRPr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96" name="Google Shape;396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606800" y="4721423"/>
              <a:ext cx="3400138" cy="14222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7" name="Google Shape;397;p12"/>
          <p:cNvGrpSpPr/>
          <p:nvPr/>
        </p:nvGrpSpPr>
        <p:grpSpPr>
          <a:xfrm>
            <a:off x="3133576" y="4026098"/>
            <a:ext cx="4041648" cy="2281238"/>
            <a:chOff x="7543800" y="4026098"/>
            <a:chExt cx="4041648" cy="2281238"/>
          </a:xfrm>
        </p:grpSpPr>
        <p:pic>
          <p:nvPicPr>
            <p:cNvPr descr="preencoded.png" id="398" name="Google Shape;398;p1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543800" y="4026098"/>
              <a:ext cx="4041648" cy="22812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9" name="Google Shape;399;p12"/>
            <p:cNvSpPr/>
            <p:nvPr/>
          </p:nvSpPr>
          <p:spPr>
            <a:xfrm>
              <a:off x="7738265" y="4140398"/>
              <a:ext cx="2311450" cy="200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C8C8C"/>
                </a:buClr>
                <a:buSzPts val="1050"/>
                <a:buFont typeface="Calibri"/>
                <a:buNone/>
              </a:pPr>
              <a:r>
                <a:rPr b="1" lang="en-US" sz="1050">
                  <a:solidFill>
                    <a:srgbClr val="8C8C8C"/>
                  </a:solidFill>
                  <a:latin typeface="Calibri"/>
                  <a:ea typeface="Calibri"/>
                  <a:cs typeface="Calibri"/>
                  <a:sym typeface="Calibri"/>
                </a:rPr>
                <a:t>CASE 01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2"/>
            <p:cNvSpPr/>
            <p:nvPr/>
          </p:nvSpPr>
          <p:spPr>
            <a:xfrm>
              <a:off x="7763639" y="4360310"/>
              <a:ext cx="2686050" cy="28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500"/>
                <a:buFont typeface="Noto Sans KR"/>
                <a:buNone/>
              </a:pPr>
              <a:r>
                <a:rPr b="1" lang="en-US" sz="1500">
                  <a:solidFill>
                    <a:srgbClr val="1A1A1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부산온나</a:t>
              </a:r>
              <a:endParaRPr b="1" sz="15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401" name="Google Shape;401;p12"/>
            <p:cNvSpPr/>
            <p:nvPr/>
          </p:nvSpPr>
          <p:spPr>
            <a:xfrm>
              <a:off x="7969246" y="6007298"/>
              <a:ext cx="2235250" cy="1857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5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75"/>
                <a:buFont typeface="Calibri"/>
                <a:buNone/>
              </a:pPr>
              <a:r>
                <a:t/>
              </a:r>
              <a:endParaRPr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02" name="Google Shape;402;p1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969245" y="4729397"/>
              <a:ext cx="3191123" cy="141422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7" name="Google Shape;40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8" name="Google Shape;40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9" name="Google Shape;40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1562318"/>
            <a:ext cx="109728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0" name="Google Shape;41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1702593"/>
            <a:ext cx="701546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1" name="Google Shape;41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97714" y="2632471"/>
            <a:ext cx="154781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2" name="Google Shape;41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97714" y="4908946"/>
            <a:ext cx="154781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3"/>
          <p:cNvSpPr/>
          <p:nvPr/>
        </p:nvSpPr>
        <p:spPr>
          <a:xfrm>
            <a:off x="609600" y="285750"/>
            <a:ext cx="476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050"/>
              <a:buFont typeface="Noto Sans KR"/>
              <a:buNone/>
            </a:pPr>
            <a:r>
              <a:rPr b="1" lang="en-US" sz="1050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SIDE PROJECTS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609600" y="950664"/>
            <a:ext cx="8924818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: 부산온나</a:t>
            </a:r>
            <a:endParaRPr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819150" y="1702593"/>
            <a:ext cx="71202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50"/>
              <a:buFont typeface="Noto Sans KR"/>
              <a:buNone/>
            </a:pPr>
            <a:r>
              <a:rPr b="1" lang="en-US" sz="16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요약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819150" y="2055018"/>
            <a:ext cx="709166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Noto Sans KR"/>
              <a:buNone/>
            </a:pPr>
            <a:r>
              <a:rPr lang="en-US" sz="10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2026.07 – 2026.09 · 개인 프로젝트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819150" y="2674143"/>
            <a:ext cx="6672560" cy="539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부산의 명소를 3개의 서비스 (맛집/관광지/축제)로 나눠 안내하고 그에 적합한 여행코스 추천과 이벤트를 기획</a:t>
            </a:r>
            <a:endParaRPr sz="1125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5"/>
              <a:buFont typeface="Calibri"/>
              <a:buNone/>
            </a:pPr>
            <a:r>
              <a:t/>
            </a:r>
            <a:endParaRPr sz="1125">
              <a:solidFill>
                <a:srgbClr val="5959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819150" y="3638373"/>
            <a:ext cx="7105650" cy="221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1인 개발자로 기획·DB 설계·네이버 지도 연동·배포를 전담, Claude Code를 협업 에이전트로 활용</a:t>
            </a:r>
            <a:endParaRPr sz="1125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819150" y="4462462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Noto Sans KR"/>
              <a:buNone/>
            </a:pPr>
            <a:r>
              <a:rPr b="1" lang="en-US" sz="975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CORE ACTIONS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420" name="Google Shape;420;p13"/>
          <p:cNvGrpSpPr/>
          <p:nvPr/>
        </p:nvGrpSpPr>
        <p:grpSpPr>
          <a:xfrm>
            <a:off x="819150" y="4662487"/>
            <a:ext cx="6920210" cy="1238092"/>
            <a:chOff x="990600" y="3745706"/>
            <a:chExt cx="6920210" cy="1238092"/>
          </a:xfrm>
        </p:grpSpPr>
        <p:sp>
          <p:nvSpPr>
            <p:cNvPr id="421" name="Google Shape;421;p13"/>
            <p:cNvSpPr/>
            <p:nvPr/>
          </p:nvSpPr>
          <p:spPr>
            <a:xfrm>
              <a:off x="990600" y="3745706"/>
              <a:ext cx="6920210" cy="20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맛집·관광지·이벤트 3개 도메인 테이블을 설계하고 백오피스에서 직접관리 할 수 있도록 설계</a:t>
              </a:r>
              <a:endParaRPr sz="1125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3"/>
            <p:cNvSpPr/>
            <p:nvPr/>
          </p:nvSpPr>
          <p:spPr>
            <a:xfrm>
              <a:off x="990600" y="4000499"/>
              <a:ext cx="6920210" cy="20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Kakao Maps, Portone 결제 API를 활용하여 위치, 결제 프로세스를 구현함</a:t>
              </a:r>
              <a:endParaRPr sz="1125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3"/>
            <p:cNvSpPr/>
            <p:nvPr/>
          </p:nvSpPr>
          <p:spPr>
            <a:xfrm>
              <a:off x="990600" y="4255293"/>
              <a:ext cx="6920210" cy="20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977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125"/>
                <a:buFont typeface="Noto Sans KR"/>
                <a:buNone/>
              </a:pPr>
              <a:r>
                <a:rPr lang="en-US" sz="1125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컨트롤러와 기존 테이블 쿼리 재활용을 통한 SQL 효율성을 높임 </a:t>
              </a:r>
              <a:endParaRPr sz="1125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3"/>
            <p:cNvSpPr/>
            <p:nvPr/>
          </p:nvSpPr>
          <p:spPr>
            <a:xfrm>
              <a:off x="990600" y="4510087"/>
              <a:ext cx="6920210" cy="20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977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125"/>
                <a:buFont typeface="Noto Sans KR"/>
                <a:buNone/>
              </a:pPr>
              <a:r>
                <a:rPr lang="en-US" sz="1125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AWS EC2 인스턴스를 통하여 발급 받은 서버에 Git을 통하여 프로젝트 배포 실시</a:t>
              </a:r>
              <a:endParaRPr sz="1125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3"/>
            <p:cNvSpPr/>
            <p:nvPr/>
          </p:nvSpPr>
          <p:spPr>
            <a:xfrm>
              <a:off x="990600" y="4776629"/>
              <a:ext cx="6920210" cy="207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977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125"/>
                <a:buFont typeface="Noto Sans KR"/>
                <a:buNone/>
              </a:pPr>
              <a:r>
                <a:rPr lang="en-US" sz="1125">
                  <a:solidFill>
                    <a:srgbClr val="59595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서버 성능 및 속도 테스트 진행(JMeter)</a:t>
              </a:r>
              <a:endParaRPr sz="1125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6" name="Google Shape;426;p13"/>
          <p:cNvSpPr/>
          <p:nvPr/>
        </p:nvSpPr>
        <p:spPr>
          <a:xfrm>
            <a:off x="8975080" y="2594669"/>
            <a:ext cx="1524000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부산온나 화면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(스크린샷 입력 필요)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9097714" y="4871144"/>
            <a:ext cx="1278731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부산온나 화면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(스크린샷 입력 필요)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819150" y="2507175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C55A11"/>
                </a:solidFill>
                <a:latin typeface="Noto Sans KR"/>
                <a:ea typeface="Noto Sans KR"/>
                <a:cs typeface="Noto Sans KR"/>
                <a:sym typeface="Noto Sans KR"/>
              </a:rPr>
              <a:t>IDEA</a:t>
            </a:r>
            <a:endParaRPr b="1" sz="1000">
              <a:solidFill>
                <a:srgbClr val="C55A1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819150" y="3430309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Noto Sans KR"/>
              <a:buNone/>
            </a:pPr>
            <a:r>
              <a:rPr b="1" lang="en-US" sz="975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Working Agent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30" name="Google Shape;43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10405" y="1931101"/>
            <a:ext cx="3272400" cy="181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09781" y="3998949"/>
            <a:ext cx="3272400" cy="18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6" name="Google Shape;43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7" name="Google Shape;43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8" name="Google Shape;43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1649109"/>
            <a:ext cx="109728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9" name="Google Shape;43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1820559"/>
            <a:ext cx="701546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0" name="Google Shape;44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97714" y="2750437"/>
            <a:ext cx="154781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1" name="Google Shape;44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97714" y="5026912"/>
            <a:ext cx="154781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4"/>
          <p:cNvSpPr/>
          <p:nvPr/>
        </p:nvSpPr>
        <p:spPr>
          <a:xfrm>
            <a:off x="609600" y="285750"/>
            <a:ext cx="476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050"/>
              <a:buFont typeface="Noto Sans KR"/>
              <a:buNone/>
            </a:pPr>
            <a:r>
              <a:rPr b="1" lang="en-US" sz="1050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SIDE PROJECTS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609600" y="5334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609600" y="1153809"/>
            <a:ext cx="749236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819150" y="1820559"/>
            <a:ext cx="71202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작업(1) – 메인 서비스,백오피스 구현  및 테이블 설계 </a:t>
            </a:r>
            <a:endParaRPr b="1"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819150" y="2172984"/>
            <a:ext cx="709166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Noto Sans KR"/>
              <a:buNone/>
            </a:pPr>
            <a:r>
              <a:rPr lang="en-US" sz="10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2026.07 – 2026.09 · 개인 프로젝트 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819150" y="2592084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C55A11"/>
                </a:solidFill>
                <a:latin typeface="Noto Sans KR"/>
                <a:ea typeface="Noto Sans KR"/>
                <a:cs typeface="Noto Sans KR"/>
                <a:sym typeface="Noto Sans KR"/>
              </a:rPr>
              <a:t>Plan</a:t>
            </a:r>
            <a:endParaRPr/>
          </a:p>
        </p:txBody>
      </p:sp>
      <p:sp>
        <p:nvSpPr>
          <p:cNvPr id="448" name="Google Shape;448;p14"/>
          <p:cNvSpPr/>
          <p:nvPr/>
        </p:nvSpPr>
        <p:spPr>
          <a:xfrm>
            <a:off x="819149" y="2792108"/>
            <a:ext cx="7031979" cy="636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부산 온나 컨셉의 3대 서비스 (맛집,관광지,축제)를 중심으로 해당 리스트, 상세 페이지를 구성 + 백오피스를 통해 관리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3대 서비스의 테이블 구성에 따라 쿼리 효율을 높이기 위해 view 생성, 지역별 탐색 프로세스에 적용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5"/>
              <a:buFont typeface="Calibri"/>
              <a:buNone/>
            </a:pPr>
            <a:r>
              <a:t/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819150" y="3577869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Noto Sans KR"/>
              <a:buNone/>
            </a:pPr>
            <a:r>
              <a:rPr b="1" lang="en-US" sz="975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Work Detail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819150" y="3969702"/>
            <a:ext cx="7105650" cy="221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클로드 코드의 플러그인 GStack을 활용하여 html 구조와 디자인 형식을 논의</a:t>
            </a:r>
            <a:endParaRPr/>
          </a:p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superpowers를 통하여 구현하고자 환경,기능에 대한 구체적인 목적, 디테일을 설정한 후에 작업 진행</a:t>
            </a:r>
            <a:endParaRPr/>
          </a:p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codex : review를 실행해서 완성된 작업본에 대한 오류 발생 위험도를 체크하고 수정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819150" y="4603005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Noto Sans KR"/>
              <a:buNone/>
            </a:pPr>
            <a:r>
              <a:rPr b="1" lang="en-US" sz="975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Study point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819150" y="5105306"/>
            <a:ext cx="6920210" cy="207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사람이 작업 했을 때 처음부터 완벽하게 구현할 수 없음 -&gt; 플러그인을 통하여 계획을 구체적으로 잡아 1차 작업본의 완성도가 전체 작업률의 90%를 완성시킬 수 있는 효율성을 확인함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Codex : review를 통하여 프로세스 안정성을 점검한 후에는 코드 리딩 시간을 확보하여 AI가 작업한 파일에 대한 이해도를 높이고 Model, Controller의 public 함수에서 직접 쿼리를 수정해서 출력결과를 조정함 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8975080" y="2712635"/>
            <a:ext cx="1524000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맛지도 화면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(스크린샷 입력 필요)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9097714" y="4989110"/>
            <a:ext cx="1278731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맛지도 화면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(스크린샷 입력 필요)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609600" y="839484"/>
            <a:ext cx="9469348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KR"/>
              <a:buNone/>
            </a:pPr>
            <a:r>
              <a:rPr b="1" lang="en-US" sz="2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: 부산온나</a:t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56" name="Google Shape;45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24692" y="4225108"/>
            <a:ext cx="3272400" cy="181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29067" y="2125908"/>
            <a:ext cx="3272400" cy="1955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2" name="Google Shape;4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3" name="Google Shape;46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4" name="Google Shape;46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1649109"/>
            <a:ext cx="109728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5" name="Google Shape;46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1820559"/>
            <a:ext cx="701546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6" name="Google Shape;46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97714" y="2750437"/>
            <a:ext cx="154781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7" name="Google Shape;46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97714" y="5026912"/>
            <a:ext cx="154781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5"/>
          <p:cNvSpPr/>
          <p:nvPr/>
        </p:nvSpPr>
        <p:spPr>
          <a:xfrm>
            <a:off x="609600" y="285750"/>
            <a:ext cx="476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050"/>
              <a:buFont typeface="Noto Sans KR"/>
              <a:buNone/>
            </a:pPr>
            <a:r>
              <a:rPr b="1" lang="en-US" sz="1050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SIDE PROJECTS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609600" y="5334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609600" y="1153809"/>
            <a:ext cx="749236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819150" y="1820559"/>
            <a:ext cx="71202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작업(2) – Kakao Maps, Port One API 연동</a:t>
            </a:r>
            <a:endParaRPr b="1"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819150" y="2172984"/>
            <a:ext cx="709166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Noto Sans KR"/>
              <a:buNone/>
            </a:pPr>
            <a:r>
              <a:rPr lang="en-US" sz="10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2026.07 – 2026.09 · 개인 프로젝트 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819150" y="2592084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C55A11"/>
                </a:solidFill>
                <a:latin typeface="Noto Sans KR"/>
                <a:ea typeface="Noto Sans KR"/>
                <a:cs typeface="Noto Sans KR"/>
                <a:sym typeface="Noto Sans KR"/>
              </a:rPr>
              <a:t>Plan</a:t>
            </a:r>
            <a:endParaRPr/>
          </a:p>
        </p:txBody>
      </p:sp>
      <p:sp>
        <p:nvSpPr>
          <p:cNvPr id="474" name="Google Shape;474;p15"/>
          <p:cNvSpPr/>
          <p:nvPr/>
        </p:nvSpPr>
        <p:spPr>
          <a:xfrm>
            <a:off x="819150" y="2887456"/>
            <a:ext cx="6808580" cy="190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부산의 명소를 소개하는 컨셉 특성상 주소와 지도에서 출력되는 정확한 위치가 중요해서 Maps Api 채용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상품에 대한 실제 결제 프로세스 구현을 위해 포트원 API를 연동하여 이니시스, 카카오페이에 대한 결제기능을 구현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819150" y="3506497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Noto Sans KR"/>
              <a:buNone/>
            </a:pPr>
            <a:r>
              <a:rPr b="1" lang="en-US" sz="975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Work Detail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819150" y="3727069"/>
            <a:ext cx="6920210" cy="666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Kakao Developer, PortOne을 통해 회원가입 후 콘솔에서 직접 API 생성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생성한 API 키 값을 PHP에서 사용할 수 있도록 .env 파일에 연동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API 키 값을 활용한 라이브러리와 스크립트를 클로드 코드로 구현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819150" y="4456923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Noto Sans KR"/>
              <a:buNone/>
            </a:pPr>
            <a:r>
              <a:rPr b="1" lang="en-US" sz="975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Study point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819150" y="4856973"/>
            <a:ext cx="6920210" cy="42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포트원 API의 경우 서버 결제 검증용 Secret key와 고객의 결제,개인정보에 대한 노출에 민감하게 반응해야 하기 때문에 스크립트가 아닌 PHP로 통신을 함 [결제창에 대한 호출:Script,  데이터 통신:PHP]</a:t>
            </a:r>
            <a:endParaRPr/>
          </a:p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네이버 Maps API가 GeoCoder에 대한 지원이 중지 되어서 주소를 입력 후 마커가 지도에 즉시 표기 되는 기능을 사용할 수 없었음 -&gt; kakaomaps API로 변경했고 스크립트를 통해 브라우저로 바로 호출할 수 있게 작업함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8975080" y="2712635"/>
            <a:ext cx="1524000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맛지도 화면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(스크린샷 입력 필요)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9097714" y="4989110"/>
            <a:ext cx="1278731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맛지도 화면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(스크린샷 입력 필요)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609600" y="839484"/>
            <a:ext cx="9469348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KR"/>
              <a:buNone/>
            </a:pPr>
            <a:r>
              <a:rPr b="1" lang="en-US" sz="2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: 부산온나</a:t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82" name="Google Shape;48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01965" y="2065368"/>
            <a:ext cx="3272400" cy="181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80111" y="2951605"/>
            <a:ext cx="1042588" cy="1312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15530" y="4179824"/>
            <a:ext cx="3272400" cy="18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9" name="Google Shape;4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0" name="Google Shape;49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1" name="Google Shape;49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1672279"/>
            <a:ext cx="109728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2" name="Google Shape;49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1820559"/>
            <a:ext cx="701546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3" name="Google Shape;49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97714" y="2750437"/>
            <a:ext cx="154781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4" name="Google Shape;49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97714" y="5026912"/>
            <a:ext cx="154781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6"/>
          <p:cNvSpPr/>
          <p:nvPr/>
        </p:nvSpPr>
        <p:spPr>
          <a:xfrm>
            <a:off x="609600" y="285750"/>
            <a:ext cx="476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050"/>
              <a:buFont typeface="Noto Sans KR"/>
              <a:buNone/>
            </a:pPr>
            <a:r>
              <a:rPr b="1" lang="en-US" sz="1050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SIDE PROJECTS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609600" y="5334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609600" y="1153809"/>
            <a:ext cx="749236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819150" y="1820559"/>
            <a:ext cx="71202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작업(3) – AWS EC2 인스턴스를 활용한 서버 구축과 배포</a:t>
            </a:r>
            <a:endParaRPr b="1"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819150" y="2172984"/>
            <a:ext cx="709166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Noto Sans KR"/>
              <a:buNone/>
            </a:pPr>
            <a:r>
              <a:rPr lang="en-US" sz="10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2026.07 – 2026.09 · 개인 프로젝트 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819150" y="2592084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C55A11"/>
                </a:solidFill>
                <a:latin typeface="Noto Sans KR"/>
                <a:ea typeface="Noto Sans KR"/>
                <a:cs typeface="Noto Sans KR"/>
                <a:sym typeface="Noto Sans KR"/>
              </a:rPr>
              <a:t>Plan</a:t>
            </a:r>
            <a:endParaRPr/>
          </a:p>
        </p:txBody>
      </p:sp>
      <p:sp>
        <p:nvSpPr>
          <p:cNvPr id="501" name="Google Shape;501;p16"/>
          <p:cNvSpPr/>
          <p:nvPr/>
        </p:nvSpPr>
        <p:spPr>
          <a:xfrm>
            <a:off x="819150" y="2792109"/>
            <a:ext cx="5825490" cy="221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작업한 내용에 대한 실제 서버에 배포를 위하여 AWS EC2 인스턴스 기능을 활용함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819150" y="3402407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Noto Sans KR"/>
              <a:buNone/>
            </a:pPr>
            <a:r>
              <a:rPr b="1" lang="en-US" sz="975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Work Detail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812155" y="3680371"/>
            <a:ext cx="7105650" cy="221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Claude가 제시한 가이드라인을 따라 코드에 대한 적용 뿐만이 아니라 Nginx를 통해 웹 엔진 서버 환경을 구축하고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SSL 인증서 발급을 통한 HTTPS, duckdns를 통해 도메인 주소를 생성함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819150" y="4225108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Noto Sans KR"/>
              <a:buNone/>
            </a:pPr>
            <a:r>
              <a:rPr b="1" lang="en-US" sz="975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Study point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819150" y="4410365"/>
            <a:ext cx="692021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3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Nginx sites-available 파일과 crontab을 통한 IP 실시간 갱신에 대한 배포 서버에서 환경을 구축하는 부분에서 지식이 부족했음, 리눅스 CLI 형태의 작업을 이어가는데 특히 db table 관리면에서 적응이 오래걸림  </a:t>
            </a:r>
            <a:endParaRPr sz="1130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8975080" y="2712635"/>
            <a:ext cx="1524000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맛지도 화면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(스크린샷 입력 필요)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9097714" y="4989110"/>
            <a:ext cx="1278731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맛지도 화면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(스크린샷 입력 필요)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609600" y="839484"/>
            <a:ext cx="9469348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KR"/>
              <a:buNone/>
            </a:pPr>
            <a:r>
              <a:rPr b="1" lang="en-US" sz="2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: 부산온나</a:t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09" name="Google Shape;50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48935" y="2071865"/>
            <a:ext cx="3272400" cy="181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53657" y="4137515"/>
            <a:ext cx="3267678" cy="18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5" name="Google Shape;5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6" name="Google Shape;5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7" name="Google Shape;51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1649109"/>
            <a:ext cx="109728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8" name="Google Shape;51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1820559"/>
            <a:ext cx="701546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9" name="Google Shape;51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97714" y="2750437"/>
            <a:ext cx="154781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0" name="Google Shape;52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97714" y="5026912"/>
            <a:ext cx="154781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17"/>
          <p:cNvSpPr/>
          <p:nvPr/>
        </p:nvSpPr>
        <p:spPr>
          <a:xfrm>
            <a:off x="609600" y="285750"/>
            <a:ext cx="476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050"/>
              <a:buFont typeface="Noto Sans KR"/>
              <a:buNone/>
            </a:pPr>
            <a:r>
              <a:rPr b="1" lang="en-US" sz="1050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SIDE PROJECTS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609600" y="5334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609600" y="1153809"/>
            <a:ext cx="749236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4" name="Google Shape;524;p17"/>
          <p:cNvSpPr/>
          <p:nvPr/>
        </p:nvSpPr>
        <p:spPr>
          <a:xfrm>
            <a:off x="819150" y="1820559"/>
            <a:ext cx="71202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요약</a:t>
            </a:r>
            <a:endParaRPr b="1"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5" name="Google Shape;525;p17"/>
          <p:cNvSpPr/>
          <p:nvPr/>
        </p:nvSpPr>
        <p:spPr>
          <a:xfrm>
            <a:off x="819150" y="2172984"/>
            <a:ext cx="709166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Noto Sans KR"/>
              <a:buNone/>
            </a:pPr>
            <a:r>
              <a:rPr lang="en-US" sz="10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2026.05 – 2026.06 · 개인 프로젝트 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6" name="Google Shape;526;p17"/>
          <p:cNvSpPr/>
          <p:nvPr/>
        </p:nvSpPr>
        <p:spPr>
          <a:xfrm>
            <a:off x="819150" y="2592084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C55A11"/>
                </a:solidFill>
                <a:latin typeface="Noto Sans KR"/>
                <a:ea typeface="Noto Sans KR"/>
                <a:cs typeface="Noto Sans KR"/>
                <a:sym typeface="Noto Sans KR"/>
              </a:rPr>
              <a:t>IDEA</a:t>
            </a:r>
            <a:endParaRPr b="1" sz="1000">
              <a:solidFill>
                <a:srgbClr val="C55A1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819150" y="2792109"/>
            <a:ext cx="5825490" cy="221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지역 맛집 활성화를 취지로 부산에서만 경험할 수 있는 맛집을 소개함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819150" y="3402407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Noto Sans KR"/>
              <a:buNone/>
            </a:pPr>
            <a:r>
              <a:rPr b="1" lang="en-US" sz="975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Working Agent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819150" y="3622980"/>
            <a:ext cx="7105650" cy="221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1인 개발자로 기획·DB 설계·프론트·백엔드를 전담하며 Claude Code를 코딩 파트너로 활용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0" name="Google Shape;530;p17"/>
          <p:cNvSpPr/>
          <p:nvPr/>
        </p:nvSpPr>
        <p:spPr>
          <a:xfrm>
            <a:off x="819150" y="4225108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Noto Sans KR"/>
              <a:buNone/>
            </a:pPr>
            <a:r>
              <a:rPr b="1" lang="en-US" sz="975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CORE ACTIONS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1" name="Google Shape;531;p17"/>
          <p:cNvSpPr/>
          <p:nvPr/>
        </p:nvSpPr>
        <p:spPr>
          <a:xfrm>
            <a:off x="819150" y="4650657"/>
            <a:ext cx="6920210" cy="207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React(TS)·Spring Boot 분리 설계, Docker 멀티스테이지 빌드로 배포 환경 구성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819150" y="4875458"/>
            <a:ext cx="6920210" cy="207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공지·문의·에러로그 백오피스 기능과 프론트 에러 수집 로깅 체계 구현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819150" y="4410365"/>
            <a:ext cx="6920210" cy="207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맛집·리뷰·회원 도메인 테이블과 REST API를 설계해 맛집 리뷰 서비스 구현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4" name="Google Shape;534;p17"/>
          <p:cNvSpPr/>
          <p:nvPr/>
        </p:nvSpPr>
        <p:spPr>
          <a:xfrm>
            <a:off x="819150" y="5097048"/>
            <a:ext cx="6920210" cy="207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Claude Code로 라우트별 API 정합성 점검 체크리스트를 만들어 코드 품질 관리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8975080" y="2712635"/>
            <a:ext cx="1524000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맛지도 화면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(스크린샷 입력 필요)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9097714" y="4989110"/>
            <a:ext cx="1278731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맛지도 화면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(스크린샷 입력 필요)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609600" y="839484"/>
            <a:ext cx="9469348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KR"/>
              <a:buNone/>
            </a:pPr>
            <a:r>
              <a:rPr b="1" lang="en-US" sz="2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: 맛지도</a:t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38" name="Google Shape;53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00450" y="2026436"/>
            <a:ext cx="3272400" cy="181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83676" y="4058924"/>
            <a:ext cx="3289174" cy="1959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4" name="Google Shape;5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5" name="Google Shape;5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6" name="Google Shape;54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1649109"/>
            <a:ext cx="109728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7" name="Google Shape;54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1820559"/>
            <a:ext cx="701546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8" name="Google Shape;54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97714" y="2750437"/>
            <a:ext cx="154781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9" name="Google Shape;54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97714" y="5026912"/>
            <a:ext cx="154781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18"/>
          <p:cNvSpPr/>
          <p:nvPr/>
        </p:nvSpPr>
        <p:spPr>
          <a:xfrm>
            <a:off x="609600" y="285750"/>
            <a:ext cx="476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050"/>
              <a:buFont typeface="Noto Sans KR"/>
              <a:buNone/>
            </a:pPr>
            <a:r>
              <a:rPr b="1" lang="en-US" sz="1050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SIDE PROJECTS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1" name="Google Shape;551;p18"/>
          <p:cNvSpPr/>
          <p:nvPr/>
        </p:nvSpPr>
        <p:spPr>
          <a:xfrm>
            <a:off x="609600" y="5334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2" name="Google Shape;552;p18"/>
          <p:cNvSpPr/>
          <p:nvPr/>
        </p:nvSpPr>
        <p:spPr>
          <a:xfrm>
            <a:off x="609600" y="1153809"/>
            <a:ext cx="749236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3" name="Google Shape;553;p18"/>
          <p:cNvSpPr/>
          <p:nvPr/>
        </p:nvSpPr>
        <p:spPr>
          <a:xfrm>
            <a:off x="819150" y="1820559"/>
            <a:ext cx="71202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작업(1) – REST API 설계</a:t>
            </a:r>
            <a:endParaRPr b="1"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4" name="Google Shape;554;p18"/>
          <p:cNvSpPr/>
          <p:nvPr/>
        </p:nvSpPr>
        <p:spPr>
          <a:xfrm>
            <a:off x="819150" y="2172984"/>
            <a:ext cx="709166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Noto Sans KR"/>
              <a:buNone/>
            </a:pPr>
            <a:r>
              <a:rPr lang="en-US" sz="10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2026.05 – 2026.06 · 개인 프로젝트 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5" name="Google Shape;555;p18"/>
          <p:cNvSpPr/>
          <p:nvPr/>
        </p:nvSpPr>
        <p:spPr>
          <a:xfrm>
            <a:off x="819150" y="2592084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C55A11"/>
                </a:solidFill>
                <a:latin typeface="Noto Sans KR"/>
                <a:ea typeface="Noto Sans KR"/>
                <a:cs typeface="Noto Sans KR"/>
                <a:sym typeface="Noto Sans KR"/>
              </a:rPr>
              <a:t>Plan</a:t>
            </a:r>
            <a:endParaRPr/>
          </a:p>
        </p:txBody>
      </p:sp>
      <p:sp>
        <p:nvSpPr>
          <p:cNvPr id="556" name="Google Shape;556;p18"/>
          <p:cNvSpPr/>
          <p:nvPr/>
        </p:nvSpPr>
        <p:spPr>
          <a:xfrm>
            <a:off x="819150" y="2792109"/>
            <a:ext cx="582549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맛집,리뷰,회원 3개 도메인으로 REST API 구조를 설계 + 관리자 사용 백오피스 구현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7" name="Google Shape;557;p18"/>
          <p:cNvSpPr/>
          <p:nvPr/>
        </p:nvSpPr>
        <p:spPr>
          <a:xfrm>
            <a:off x="819150" y="3402407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Noto Sans KR"/>
              <a:buNone/>
            </a:pPr>
            <a:r>
              <a:rPr b="1" lang="en-US" sz="975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Work Detail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8" name="Google Shape;558;p18"/>
          <p:cNvSpPr/>
          <p:nvPr/>
        </p:nvSpPr>
        <p:spPr>
          <a:xfrm>
            <a:off x="819150" y="3622980"/>
            <a:ext cx="710565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도메인별로 계층을 분리해 CRUD 기능을 구현 라우트 형식을 정하고 주석을 통하여 구분에 용이 하도록 정리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9" name="Google Shape;559;p18"/>
          <p:cNvSpPr/>
          <p:nvPr/>
        </p:nvSpPr>
        <p:spPr>
          <a:xfrm>
            <a:off x="819150" y="4225108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Noto Sans KR"/>
              <a:buNone/>
            </a:pPr>
            <a:r>
              <a:rPr b="1" lang="en-US" sz="975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Study point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0" name="Google Shape;560;p18"/>
          <p:cNvSpPr/>
          <p:nvPr/>
        </p:nvSpPr>
        <p:spPr>
          <a:xfrm>
            <a:off x="819150" y="4410365"/>
            <a:ext cx="692021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프론트엔드 + 백엔드가 분리된 구조에서 요청 후 백엔드에서 데이터 처리 하는 과정에 대한 적응이 오래 걸림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구조를 먼저 문서화한 후에 작업을 진해하는 방식을 채택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1" name="Google Shape;561;p18"/>
          <p:cNvSpPr/>
          <p:nvPr/>
        </p:nvSpPr>
        <p:spPr>
          <a:xfrm>
            <a:off x="8975080" y="2712635"/>
            <a:ext cx="1524000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맛지도 화면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(스크린샷 입력 필요)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2" name="Google Shape;562;p18"/>
          <p:cNvSpPr/>
          <p:nvPr/>
        </p:nvSpPr>
        <p:spPr>
          <a:xfrm>
            <a:off x="9097714" y="4989110"/>
            <a:ext cx="1278731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맛지도 화면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(스크린샷 입력 필요)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3" name="Google Shape;563;p18"/>
          <p:cNvSpPr/>
          <p:nvPr/>
        </p:nvSpPr>
        <p:spPr>
          <a:xfrm>
            <a:off x="609600" y="839484"/>
            <a:ext cx="9469348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KR"/>
              <a:buNone/>
            </a:pPr>
            <a:r>
              <a:rPr b="1" lang="en-US" sz="2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: 맛지도</a:t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64" name="Google Shape;56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00450" y="4241737"/>
            <a:ext cx="3272400" cy="181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24692" y="2106056"/>
            <a:ext cx="3272400" cy="19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0" name="Google Shape;5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1" name="Google Shape;57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2" name="Google Shape;57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1649109"/>
            <a:ext cx="109728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3" name="Google Shape;57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1820559"/>
            <a:ext cx="701546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4" name="Google Shape;57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97714" y="2750437"/>
            <a:ext cx="154781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5" name="Google Shape;57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97714" y="5026912"/>
            <a:ext cx="154781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19"/>
          <p:cNvSpPr/>
          <p:nvPr/>
        </p:nvSpPr>
        <p:spPr>
          <a:xfrm>
            <a:off x="609600" y="285750"/>
            <a:ext cx="476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050"/>
              <a:buFont typeface="Noto Sans KR"/>
              <a:buNone/>
            </a:pPr>
            <a:r>
              <a:rPr b="1" lang="en-US" sz="1050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SIDE PROJECTS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7" name="Google Shape;577;p19"/>
          <p:cNvSpPr/>
          <p:nvPr/>
        </p:nvSpPr>
        <p:spPr>
          <a:xfrm>
            <a:off x="609600" y="5334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8" name="Google Shape;578;p19"/>
          <p:cNvSpPr/>
          <p:nvPr/>
        </p:nvSpPr>
        <p:spPr>
          <a:xfrm>
            <a:off x="609600" y="1153809"/>
            <a:ext cx="749236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9" name="Google Shape;579;p19"/>
          <p:cNvSpPr/>
          <p:nvPr/>
        </p:nvSpPr>
        <p:spPr>
          <a:xfrm>
            <a:off x="819150" y="1820559"/>
            <a:ext cx="71202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작업(2) – Docker 빌드 배포 환경 구축 </a:t>
            </a:r>
            <a:endParaRPr b="1"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0" name="Google Shape;580;p19"/>
          <p:cNvSpPr/>
          <p:nvPr/>
        </p:nvSpPr>
        <p:spPr>
          <a:xfrm>
            <a:off x="819150" y="2172984"/>
            <a:ext cx="709166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Noto Sans KR"/>
              <a:buNone/>
            </a:pPr>
            <a:r>
              <a:rPr lang="en-US" sz="10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2026.05 – 2026.06 · 개인 프로젝트 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1" name="Google Shape;581;p19"/>
          <p:cNvSpPr/>
          <p:nvPr/>
        </p:nvSpPr>
        <p:spPr>
          <a:xfrm>
            <a:off x="819150" y="2592084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C55A11"/>
                </a:solidFill>
                <a:latin typeface="Noto Sans KR"/>
                <a:ea typeface="Noto Sans KR"/>
                <a:cs typeface="Noto Sans KR"/>
                <a:sym typeface="Noto Sans KR"/>
              </a:rPr>
              <a:t>Plan</a:t>
            </a:r>
            <a:endParaRPr/>
          </a:p>
        </p:txBody>
      </p:sp>
      <p:sp>
        <p:nvSpPr>
          <p:cNvPr id="582" name="Google Shape;582;p19"/>
          <p:cNvSpPr/>
          <p:nvPr/>
        </p:nvSpPr>
        <p:spPr>
          <a:xfrm>
            <a:off x="819150" y="2792109"/>
            <a:ext cx="582549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5"/>
              <a:buFont typeface="Noto Sans KR"/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프론트·백엔드를 컨테이너화하고 멀티스테이지 빌드로 배포 환경을 구성</a:t>
            </a:r>
            <a:endParaRPr/>
          </a:p>
        </p:txBody>
      </p:sp>
      <p:sp>
        <p:nvSpPr>
          <p:cNvPr id="583" name="Google Shape;583;p19"/>
          <p:cNvSpPr/>
          <p:nvPr/>
        </p:nvSpPr>
        <p:spPr>
          <a:xfrm>
            <a:off x="819150" y="3402407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Noto Sans KR"/>
              <a:buNone/>
            </a:pPr>
            <a:r>
              <a:rPr b="1" lang="en-US" sz="975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Work Detail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4" name="Google Shape;584;p19"/>
          <p:cNvSpPr/>
          <p:nvPr/>
        </p:nvSpPr>
        <p:spPr>
          <a:xfrm>
            <a:off x="819150" y="3622980"/>
            <a:ext cx="710565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프론트는 빌드 후 정적 파일을 Nginx로 서빙</a:t>
            </a:r>
            <a:endParaRPr/>
          </a:p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백엔드는 Gradle 빌드 후 실행 파일만 남긴 이미지로 구성</a:t>
            </a:r>
            <a:endParaRPr/>
          </a:p>
        </p:txBody>
      </p:sp>
      <p:sp>
        <p:nvSpPr>
          <p:cNvPr id="585" name="Google Shape;585;p19"/>
          <p:cNvSpPr/>
          <p:nvPr/>
        </p:nvSpPr>
        <p:spPr>
          <a:xfrm>
            <a:off x="819150" y="4225108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Noto Sans KR"/>
              <a:buNone/>
            </a:pPr>
            <a:r>
              <a:rPr b="1" lang="en-US" sz="975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Study point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6" name="Google Shape;586;p19"/>
          <p:cNvSpPr/>
          <p:nvPr/>
        </p:nvSpPr>
        <p:spPr>
          <a:xfrm>
            <a:off x="819150" y="4410365"/>
            <a:ext cx="692021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빌드 도구와 실행 파일을 한 이미지에 담아 용량이 커지는 문제를 겪음</a:t>
            </a:r>
            <a:endParaRPr/>
          </a:p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빌드·실행 단계를 분리하며 이미지 경량화 효과를 체감함</a:t>
            </a:r>
            <a:endParaRPr/>
          </a:p>
        </p:txBody>
      </p:sp>
      <p:sp>
        <p:nvSpPr>
          <p:cNvPr id="587" name="Google Shape;587;p19"/>
          <p:cNvSpPr/>
          <p:nvPr/>
        </p:nvSpPr>
        <p:spPr>
          <a:xfrm>
            <a:off x="9097714" y="4989110"/>
            <a:ext cx="1278731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맛지도 화면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(스크린샷 입력 필요)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8" name="Google Shape;588;p19"/>
          <p:cNvSpPr/>
          <p:nvPr/>
        </p:nvSpPr>
        <p:spPr>
          <a:xfrm>
            <a:off x="609600" y="839484"/>
            <a:ext cx="9469348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KR"/>
              <a:buNone/>
            </a:pPr>
            <a:r>
              <a:rPr b="1" lang="en-US" sz="2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: 맛지도</a:t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89" name="Google Shape;589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10405" y="1945017"/>
            <a:ext cx="3272400" cy="181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01073" y="3982511"/>
            <a:ext cx="3292427" cy="2166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5" name="Google Shape;5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6" name="Google Shape;5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7" name="Google Shape;59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1649109"/>
            <a:ext cx="109728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8" name="Google Shape;59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1820559"/>
            <a:ext cx="701546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9" name="Google Shape;59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97714" y="2750437"/>
            <a:ext cx="154781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20"/>
          <p:cNvSpPr/>
          <p:nvPr/>
        </p:nvSpPr>
        <p:spPr>
          <a:xfrm>
            <a:off x="609600" y="285750"/>
            <a:ext cx="476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1050"/>
              <a:buFont typeface="Noto Sans KR"/>
              <a:buNone/>
            </a:pPr>
            <a:r>
              <a:rPr b="1" lang="en-US" sz="1050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SIDE PROJECTS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1" name="Google Shape;601;p20"/>
          <p:cNvSpPr/>
          <p:nvPr/>
        </p:nvSpPr>
        <p:spPr>
          <a:xfrm>
            <a:off x="609600" y="5334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2" name="Google Shape;602;p20"/>
          <p:cNvSpPr/>
          <p:nvPr/>
        </p:nvSpPr>
        <p:spPr>
          <a:xfrm>
            <a:off x="609600" y="1153809"/>
            <a:ext cx="749236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3" name="Google Shape;603;p20"/>
          <p:cNvSpPr/>
          <p:nvPr/>
        </p:nvSpPr>
        <p:spPr>
          <a:xfrm>
            <a:off x="819150" y="1820559"/>
            <a:ext cx="71202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작업(3) – 라우트별 API 점검 체크리스트 활용</a:t>
            </a:r>
            <a:endParaRPr b="1"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4" name="Google Shape;604;p20"/>
          <p:cNvSpPr/>
          <p:nvPr/>
        </p:nvSpPr>
        <p:spPr>
          <a:xfrm>
            <a:off x="819150" y="2172984"/>
            <a:ext cx="709166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050"/>
              <a:buFont typeface="Noto Sans KR"/>
              <a:buNone/>
            </a:pPr>
            <a:r>
              <a:rPr lang="en-US" sz="105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2026.05 – 2026.06 · 개인 프로젝트 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5" name="Google Shape;605;p20"/>
          <p:cNvSpPr/>
          <p:nvPr/>
        </p:nvSpPr>
        <p:spPr>
          <a:xfrm>
            <a:off x="819150" y="2592084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C55A11"/>
                </a:solidFill>
                <a:latin typeface="Noto Sans KR"/>
                <a:ea typeface="Noto Sans KR"/>
                <a:cs typeface="Noto Sans KR"/>
                <a:sym typeface="Noto Sans KR"/>
              </a:rPr>
              <a:t>Plan</a:t>
            </a:r>
            <a:endParaRPr/>
          </a:p>
        </p:txBody>
      </p:sp>
      <p:sp>
        <p:nvSpPr>
          <p:cNvPr id="606" name="Google Shape;606;p20"/>
          <p:cNvSpPr/>
          <p:nvPr/>
        </p:nvSpPr>
        <p:spPr>
          <a:xfrm>
            <a:off x="819150" y="2792109"/>
            <a:ext cx="582549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라우트별 요청·응답과 예외 처리를 점검하는 체크리스트를 마련</a:t>
            </a:r>
            <a:endParaRPr/>
          </a:p>
        </p:txBody>
      </p:sp>
      <p:sp>
        <p:nvSpPr>
          <p:cNvPr id="607" name="Google Shape;607;p20"/>
          <p:cNvSpPr/>
          <p:nvPr/>
        </p:nvSpPr>
        <p:spPr>
          <a:xfrm>
            <a:off x="819150" y="3402407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Noto Sans KR"/>
              <a:buNone/>
            </a:pPr>
            <a:r>
              <a:rPr b="1" lang="en-US" sz="975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Work Detail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8" name="Google Shape;608;p20"/>
          <p:cNvSpPr/>
          <p:nvPr/>
        </p:nvSpPr>
        <p:spPr>
          <a:xfrm>
            <a:off x="819150" y="3622980"/>
            <a:ext cx="710565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클로드를 활용하여 인증 여부, 파라미터 검증, 응답 코드를 항목화하고 엑셀 문서를 만들어서 기능 혹은 페이지를 구성하는 파일이 무엇이 있는지와 체크리스트를 관리할 수 있도록 함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9" name="Google Shape;609;p20"/>
          <p:cNvSpPr/>
          <p:nvPr/>
        </p:nvSpPr>
        <p:spPr>
          <a:xfrm>
            <a:off x="819150" y="4225108"/>
            <a:ext cx="709166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3C"/>
              </a:buClr>
              <a:buSzPts val="975"/>
              <a:buFont typeface="Noto Sans KR"/>
              <a:buNone/>
            </a:pPr>
            <a:r>
              <a:rPr b="1" lang="en-US" sz="975">
                <a:solidFill>
                  <a:srgbClr val="C85A3C"/>
                </a:solidFill>
                <a:latin typeface="Noto Sans KR"/>
                <a:ea typeface="Noto Sans KR"/>
                <a:cs typeface="Noto Sans KR"/>
                <a:sym typeface="Noto Sans KR"/>
              </a:rPr>
              <a:t>Study point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0" name="Google Shape;610;p20"/>
          <p:cNvSpPr/>
          <p:nvPr/>
        </p:nvSpPr>
        <p:spPr>
          <a:xfrm>
            <a:off x="819150" y="4410365"/>
            <a:ext cx="692021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일부 라우트에서 예외 처리가 누락된 것을 뒤늦게 발견 체크리스트를 활용하여 해당 부분에 대한 수정과 이후 관리 기능까지 활용할 수 있도록 문서화를 이어감으로써 프로젝트 관리에 효율성이 높아짐을 체감 </a:t>
            </a:r>
            <a:endParaRPr sz="1125">
              <a:solidFill>
                <a:srgbClr val="7F7F7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1" name="Google Shape;611;p20"/>
          <p:cNvSpPr/>
          <p:nvPr/>
        </p:nvSpPr>
        <p:spPr>
          <a:xfrm>
            <a:off x="8975080" y="2712635"/>
            <a:ext cx="1524000" cy="358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맛지도 화면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45025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75"/>
              <a:buFont typeface="Noto Sans KR"/>
              <a:buNone/>
            </a:pPr>
            <a:r>
              <a:rPr lang="en-US" sz="975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rPr>
              <a:t>(스크린샷 입력 필요)</a:t>
            </a:r>
            <a:endParaRPr sz="97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2" name="Google Shape;612;p20"/>
          <p:cNvSpPr/>
          <p:nvPr/>
        </p:nvSpPr>
        <p:spPr>
          <a:xfrm>
            <a:off x="609600" y="839484"/>
            <a:ext cx="9469348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KR"/>
              <a:buNone/>
            </a:pPr>
            <a:r>
              <a:rPr b="1" lang="en-US" sz="2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: 맛지도</a:t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613" name="Google Shape;61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48935" y="2104565"/>
            <a:ext cx="3272400" cy="181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20360" y="4082848"/>
            <a:ext cx="3272400" cy="18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